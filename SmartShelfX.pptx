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8210550"/>
  <p:notesSz cx="11430000" cy="82105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8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A0C2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48631" y="1930400"/>
            <a:ext cx="5558790" cy="161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C6BE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948631" y="3778726"/>
            <a:ext cx="5816600" cy="654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DAD8E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6BE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DAD8E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6BE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6BE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A0C2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4104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2385" y="501649"/>
            <a:ext cx="8703941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C6BE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19668" y="1630362"/>
            <a:ext cx="8063230" cy="412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DAD8E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115"/>
              </a:spcBef>
            </a:pPr>
            <a:r>
              <a:rPr spc="105" dirty="0"/>
              <a:t>SmartShelfX:</a:t>
            </a:r>
            <a:r>
              <a:rPr spc="235" dirty="0"/>
              <a:t> </a:t>
            </a:r>
            <a:r>
              <a:rPr spc="190" dirty="0"/>
              <a:t>AI-</a:t>
            </a:r>
            <a:r>
              <a:rPr spc="275" dirty="0"/>
              <a:t>Ba</a:t>
            </a:r>
            <a:r>
              <a:rPr cap="small" spc="275" dirty="0"/>
              <a:t>s</a:t>
            </a:r>
            <a:r>
              <a:rPr spc="275" dirty="0"/>
              <a:t>ed </a:t>
            </a:r>
            <a:r>
              <a:rPr spc="145" dirty="0"/>
              <a:t>Inventory</a:t>
            </a:r>
            <a:r>
              <a:rPr spc="220" dirty="0"/>
              <a:t> </a:t>
            </a:r>
            <a:r>
              <a:rPr spc="114" dirty="0"/>
              <a:t>Foreca</a:t>
            </a:r>
            <a:r>
              <a:rPr cap="small" spc="114" dirty="0"/>
              <a:t>s</a:t>
            </a:r>
            <a:r>
              <a:rPr spc="114" dirty="0"/>
              <a:t>t</a:t>
            </a:r>
            <a:r>
              <a:rPr spc="215" dirty="0"/>
              <a:t> </a:t>
            </a:r>
            <a:r>
              <a:rPr spc="254" dirty="0"/>
              <a:t>&amp;</a:t>
            </a:r>
            <a:r>
              <a:rPr spc="215" dirty="0"/>
              <a:t> </a:t>
            </a:r>
            <a:r>
              <a:rPr spc="170" dirty="0"/>
              <a:t>Auto</a:t>
            </a: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pc="175" dirty="0"/>
              <a:t>Re</a:t>
            </a:r>
            <a:r>
              <a:rPr cap="small" spc="175" dirty="0"/>
              <a:t>s</a:t>
            </a:r>
            <a:r>
              <a:rPr spc="175" dirty="0"/>
              <a:t>tock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sz="1500" spc="-50" dirty="0">
                <a:latin typeface="Tahoma"/>
                <a:cs typeface="Tahoma"/>
              </a:rPr>
              <a:t>Transforming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-40" dirty="0">
                <a:latin typeface="Tahoma"/>
                <a:cs typeface="Tahoma"/>
              </a:rPr>
              <a:t>inventory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-45" dirty="0">
                <a:latin typeface="Tahoma"/>
                <a:cs typeface="Tahoma"/>
              </a:rPr>
              <a:t>management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-30" dirty="0">
                <a:latin typeface="Tahoma"/>
                <a:cs typeface="Tahoma"/>
              </a:rPr>
              <a:t>through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intelligent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-30" dirty="0">
                <a:latin typeface="Tahoma"/>
                <a:cs typeface="Tahoma"/>
              </a:rPr>
              <a:t>automation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and </a:t>
            </a:r>
            <a:r>
              <a:rPr sz="1500" spc="-35" dirty="0">
                <a:latin typeface="Tahoma"/>
                <a:cs typeface="Tahoma"/>
              </a:rPr>
              <a:t>predictive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analytics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83DD4C-0095-F3B6-1F61-8E18DA1D8CEC}"/>
              </a:ext>
            </a:extLst>
          </p:cNvPr>
          <p:cNvSpPr txBox="1"/>
          <p:nvPr/>
        </p:nvSpPr>
        <p:spPr>
          <a:xfrm>
            <a:off x="5867400" y="6696075"/>
            <a:ext cx="51053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By:</a:t>
            </a:r>
          </a:p>
          <a:p>
            <a:endParaRPr lang="en-IN" dirty="0"/>
          </a:p>
          <a:p>
            <a:r>
              <a:rPr lang="en-IN" dirty="0"/>
              <a:t>	</a:t>
            </a:r>
            <a:r>
              <a:rPr lang="en-IN" sz="2800" b="1" dirty="0" err="1"/>
              <a:t>Ghanaswamy</a:t>
            </a:r>
            <a:r>
              <a:rPr lang="en-IN" sz="2800" b="1" dirty="0"/>
              <a:t> V 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385" y="2968625"/>
            <a:ext cx="655510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spc="145" dirty="0">
                <a:solidFill>
                  <a:srgbClr val="C6BEEE"/>
                </a:solidFill>
                <a:latin typeface="Trebuchet MS"/>
                <a:cs typeface="Trebuchet MS"/>
              </a:rPr>
              <a:t>The</a:t>
            </a:r>
            <a:r>
              <a:rPr sz="3350" spc="210" dirty="0">
                <a:solidFill>
                  <a:srgbClr val="C6BEEE"/>
                </a:solidFill>
                <a:latin typeface="Trebuchet MS"/>
                <a:cs typeface="Trebuchet MS"/>
              </a:rPr>
              <a:t> </a:t>
            </a:r>
            <a:r>
              <a:rPr sz="3350" spc="145" dirty="0">
                <a:solidFill>
                  <a:srgbClr val="C6BEEE"/>
                </a:solidFill>
                <a:latin typeface="Trebuchet MS"/>
                <a:cs typeface="Trebuchet MS"/>
              </a:rPr>
              <a:t>Inventory</a:t>
            </a:r>
            <a:r>
              <a:rPr sz="3350" spc="220" dirty="0">
                <a:solidFill>
                  <a:srgbClr val="C6BEEE"/>
                </a:solidFill>
                <a:latin typeface="Trebuchet MS"/>
                <a:cs typeface="Trebuchet MS"/>
              </a:rPr>
              <a:t> </a:t>
            </a:r>
            <a:r>
              <a:rPr sz="3350" spc="175" dirty="0">
                <a:solidFill>
                  <a:srgbClr val="C6BEEE"/>
                </a:solidFill>
                <a:latin typeface="Trebuchet MS"/>
                <a:cs typeface="Trebuchet MS"/>
              </a:rPr>
              <a:t>Challenge</a:t>
            </a:r>
            <a:r>
              <a:rPr sz="3350" spc="225" dirty="0">
                <a:solidFill>
                  <a:srgbClr val="C6BEEE"/>
                </a:solidFill>
                <a:latin typeface="Trebuchet MS"/>
                <a:cs typeface="Trebuchet MS"/>
              </a:rPr>
              <a:t> </a:t>
            </a:r>
            <a:r>
              <a:rPr sz="3350" spc="114" dirty="0">
                <a:solidFill>
                  <a:srgbClr val="C6BEEE"/>
                </a:solidFill>
                <a:latin typeface="Trebuchet MS"/>
                <a:cs typeface="Trebuchet MS"/>
              </a:rPr>
              <a:t>Today</a:t>
            </a:r>
            <a:endParaRPr sz="335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76275" y="3829050"/>
            <a:ext cx="3228975" cy="2019300"/>
            <a:chOff x="676275" y="3829050"/>
            <a:chExt cx="3228975" cy="2019300"/>
          </a:xfrm>
        </p:grpSpPr>
        <p:sp>
          <p:nvSpPr>
            <p:cNvPr id="4" name="object 4"/>
            <p:cNvSpPr/>
            <p:nvPr/>
          </p:nvSpPr>
          <p:spPr>
            <a:xfrm>
              <a:off x="681037" y="3833812"/>
              <a:ext cx="3219450" cy="2009775"/>
            </a:xfrm>
            <a:custGeom>
              <a:avLst/>
              <a:gdLst/>
              <a:ahLst/>
              <a:cxnLst/>
              <a:rect l="l" t="t" r="r" b="b"/>
              <a:pathLst>
                <a:path w="3219450" h="2009775">
                  <a:moveTo>
                    <a:pt x="3160826" y="0"/>
                  </a:moveTo>
                  <a:lnTo>
                    <a:pt x="58628" y="0"/>
                  </a:lnTo>
                  <a:lnTo>
                    <a:pt x="54545" y="406"/>
                  </a:lnTo>
                  <a:lnTo>
                    <a:pt x="15463" y="21285"/>
                  </a:lnTo>
                  <a:lnTo>
                    <a:pt x="0" y="58623"/>
                  </a:lnTo>
                  <a:lnTo>
                    <a:pt x="0" y="1947030"/>
                  </a:lnTo>
                  <a:lnTo>
                    <a:pt x="0" y="1951148"/>
                  </a:lnTo>
                  <a:lnTo>
                    <a:pt x="15463" y="1988483"/>
                  </a:lnTo>
                  <a:lnTo>
                    <a:pt x="54545" y="2009373"/>
                  </a:lnTo>
                  <a:lnTo>
                    <a:pt x="58628" y="2009771"/>
                  </a:lnTo>
                  <a:lnTo>
                    <a:pt x="3160826" y="2009771"/>
                  </a:lnTo>
                  <a:lnTo>
                    <a:pt x="3198152" y="1994307"/>
                  </a:lnTo>
                  <a:lnTo>
                    <a:pt x="3219043" y="1955225"/>
                  </a:lnTo>
                  <a:lnTo>
                    <a:pt x="3219450" y="1951148"/>
                  </a:lnTo>
                  <a:lnTo>
                    <a:pt x="3219450" y="58623"/>
                  </a:lnTo>
                  <a:lnTo>
                    <a:pt x="3203981" y="21285"/>
                  </a:lnTo>
                  <a:lnTo>
                    <a:pt x="3164903" y="406"/>
                  </a:lnTo>
                  <a:lnTo>
                    <a:pt x="3160826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1037" y="3833812"/>
              <a:ext cx="3219450" cy="2009775"/>
            </a:xfrm>
            <a:custGeom>
              <a:avLst/>
              <a:gdLst/>
              <a:ahLst/>
              <a:cxnLst/>
              <a:rect l="l" t="t" r="r" b="b"/>
              <a:pathLst>
                <a:path w="3219450" h="2009775">
                  <a:moveTo>
                    <a:pt x="0" y="1947030"/>
                  </a:moveTo>
                  <a:lnTo>
                    <a:pt x="0" y="62750"/>
                  </a:lnTo>
                  <a:lnTo>
                    <a:pt x="0" y="58623"/>
                  </a:lnTo>
                  <a:lnTo>
                    <a:pt x="401" y="54546"/>
                  </a:lnTo>
                  <a:lnTo>
                    <a:pt x="10576" y="27889"/>
                  </a:lnTo>
                  <a:lnTo>
                    <a:pt x="12863" y="24460"/>
                  </a:lnTo>
                  <a:lnTo>
                    <a:pt x="15463" y="21285"/>
                  </a:lnTo>
                  <a:lnTo>
                    <a:pt x="18380" y="18376"/>
                  </a:lnTo>
                  <a:lnTo>
                    <a:pt x="21292" y="15468"/>
                  </a:lnTo>
                  <a:lnTo>
                    <a:pt x="38735" y="4775"/>
                  </a:lnTo>
                  <a:lnTo>
                    <a:pt x="42539" y="3200"/>
                  </a:lnTo>
                  <a:lnTo>
                    <a:pt x="46464" y="2006"/>
                  </a:lnTo>
                  <a:lnTo>
                    <a:pt x="50502" y="1206"/>
                  </a:lnTo>
                  <a:lnTo>
                    <a:pt x="54545" y="406"/>
                  </a:lnTo>
                  <a:lnTo>
                    <a:pt x="58628" y="0"/>
                  </a:lnTo>
                  <a:lnTo>
                    <a:pt x="62745" y="0"/>
                  </a:lnTo>
                  <a:lnTo>
                    <a:pt x="3156699" y="0"/>
                  </a:lnTo>
                  <a:lnTo>
                    <a:pt x="3160826" y="0"/>
                  </a:lnTo>
                  <a:lnTo>
                    <a:pt x="3164903" y="406"/>
                  </a:lnTo>
                  <a:lnTo>
                    <a:pt x="3168942" y="1206"/>
                  </a:lnTo>
                  <a:lnTo>
                    <a:pt x="3172980" y="2006"/>
                  </a:lnTo>
                  <a:lnTo>
                    <a:pt x="3176905" y="3200"/>
                  </a:lnTo>
                  <a:lnTo>
                    <a:pt x="3180715" y="4775"/>
                  </a:lnTo>
                  <a:lnTo>
                    <a:pt x="3184525" y="6350"/>
                  </a:lnTo>
                  <a:lnTo>
                    <a:pt x="3208870" y="27889"/>
                  </a:lnTo>
                  <a:lnTo>
                    <a:pt x="3211169" y="31305"/>
                  </a:lnTo>
                  <a:lnTo>
                    <a:pt x="3213100" y="34925"/>
                  </a:lnTo>
                  <a:lnTo>
                    <a:pt x="3214674" y="38735"/>
                  </a:lnTo>
                  <a:lnTo>
                    <a:pt x="3216249" y="42545"/>
                  </a:lnTo>
                  <a:lnTo>
                    <a:pt x="3217443" y="46469"/>
                  </a:lnTo>
                  <a:lnTo>
                    <a:pt x="3218243" y="50507"/>
                  </a:lnTo>
                  <a:lnTo>
                    <a:pt x="3219043" y="54546"/>
                  </a:lnTo>
                  <a:lnTo>
                    <a:pt x="3219450" y="58623"/>
                  </a:lnTo>
                  <a:lnTo>
                    <a:pt x="3219450" y="62750"/>
                  </a:lnTo>
                  <a:lnTo>
                    <a:pt x="3219450" y="1947030"/>
                  </a:lnTo>
                  <a:lnTo>
                    <a:pt x="3219450" y="1951148"/>
                  </a:lnTo>
                  <a:lnTo>
                    <a:pt x="3219043" y="1955225"/>
                  </a:lnTo>
                  <a:lnTo>
                    <a:pt x="3218243" y="1959268"/>
                  </a:lnTo>
                  <a:lnTo>
                    <a:pt x="3217443" y="1963312"/>
                  </a:lnTo>
                  <a:lnTo>
                    <a:pt x="3208870" y="1981885"/>
                  </a:lnTo>
                  <a:lnTo>
                    <a:pt x="3206584" y="1985313"/>
                  </a:lnTo>
                  <a:lnTo>
                    <a:pt x="3172980" y="2007762"/>
                  </a:lnTo>
                  <a:lnTo>
                    <a:pt x="3168942" y="2008565"/>
                  </a:lnTo>
                  <a:lnTo>
                    <a:pt x="3164903" y="2009373"/>
                  </a:lnTo>
                  <a:lnTo>
                    <a:pt x="3160826" y="2009771"/>
                  </a:lnTo>
                  <a:lnTo>
                    <a:pt x="3156699" y="2009776"/>
                  </a:lnTo>
                  <a:lnTo>
                    <a:pt x="62745" y="2009776"/>
                  </a:lnTo>
                  <a:lnTo>
                    <a:pt x="58628" y="2009771"/>
                  </a:lnTo>
                  <a:lnTo>
                    <a:pt x="54545" y="2009373"/>
                  </a:lnTo>
                  <a:lnTo>
                    <a:pt x="50502" y="2008565"/>
                  </a:lnTo>
                  <a:lnTo>
                    <a:pt x="46464" y="2007762"/>
                  </a:lnTo>
                  <a:lnTo>
                    <a:pt x="18380" y="1991395"/>
                  </a:lnTo>
                  <a:lnTo>
                    <a:pt x="15463" y="1988483"/>
                  </a:lnTo>
                  <a:lnTo>
                    <a:pt x="12863" y="1985313"/>
                  </a:lnTo>
                  <a:lnTo>
                    <a:pt x="10576" y="1981885"/>
                  </a:lnTo>
                  <a:lnTo>
                    <a:pt x="8284" y="1978463"/>
                  </a:lnTo>
                  <a:lnTo>
                    <a:pt x="0" y="1951148"/>
                  </a:lnTo>
                  <a:lnTo>
                    <a:pt x="0" y="1947030"/>
                  </a:lnTo>
                  <a:close/>
                </a:path>
              </a:pathLst>
            </a:custGeom>
            <a:ln w="952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64791" y="4011612"/>
            <a:ext cx="201803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55" dirty="0">
                <a:solidFill>
                  <a:srgbClr val="DAD8E9"/>
                </a:solidFill>
                <a:latin typeface="Trebuchet MS"/>
                <a:cs typeface="Trebuchet MS"/>
              </a:rPr>
              <a:t>Inaccurate</a:t>
            </a:r>
            <a:r>
              <a:rPr sz="1650" spc="14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70" dirty="0">
                <a:solidFill>
                  <a:srgbClr val="DAD8E9"/>
                </a:solidFill>
                <a:latin typeface="Trebuchet MS"/>
                <a:cs typeface="Trebuchet MS"/>
              </a:rPr>
              <a:t>Record</a:t>
            </a:r>
            <a:r>
              <a:rPr sz="1650" cap="small" spc="70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4791" y="4331176"/>
            <a:ext cx="2647315" cy="126365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134700"/>
              </a:lnSpc>
              <a:spcBef>
                <a:spcPts val="145"/>
              </a:spcBef>
            </a:pP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60%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of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inventory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records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contain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errors,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leading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DAD8E9"/>
                </a:solidFill>
                <a:latin typeface="Tahoma"/>
                <a:cs typeface="Tahoma"/>
              </a:rPr>
              <a:t>to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lost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sales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opportunities</a:t>
            </a: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costly</a:t>
            </a: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excess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stock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accumulation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95750" y="3829050"/>
            <a:ext cx="3238500" cy="2019300"/>
            <a:chOff x="4095750" y="3829050"/>
            <a:chExt cx="3238500" cy="2019300"/>
          </a:xfrm>
        </p:grpSpPr>
        <p:sp>
          <p:nvSpPr>
            <p:cNvPr id="9" name="object 9"/>
            <p:cNvSpPr/>
            <p:nvPr/>
          </p:nvSpPr>
          <p:spPr>
            <a:xfrm>
              <a:off x="4100512" y="3833812"/>
              <a:ext cx="3228975" cy="2009775"/>
            </a:xfrm>
            <a:custGeom>
              <a:avLst/>
              <a:gdLst/>
              <a:ahLst/>
              <a:cxnLst/>
              <a:rect l="l" t="t" r="r" b="b"/>
              <a:pathLst>
                <a:path w="3228975" h="2009775">
                  <a:moveTo>
                    <a:pt x="3170351" y="0"/>
                  </a:moveTo>
                  <a:lnTo>
                    <a:pt x="58623" y="0"/>
                  </a:lnTo>
                  <a:lnTo>
                    <a:pt x="54546" y="406"/>
                  </a:lnTo>
                  <a:lnTo>
                    <a:pt x="15468" y="21285"/>
                  </a:lnTo>
                  <a:lnTo>
                    <a:pt x="0" y="58623"/>
                  </a:lnTo>
                  <a:lnTo>
                    <a:pt x="0" y="1947030"/>
                  </a:lnTo>
                  <a:lnTo>
                    <a:pt x="0" y="1951148"/>
                  </a:lnTo>
                  <a:lnTo>
                    <a:pt x="15468" y="1988483"/>
                  </a:lnTo>
                  <a:lnTo>
                    <a:pt x="54546" y="2009373"/>
                  </a:lnTo>
                  <a:lnTo>
                    <a:pt x="58623" y="2009771"/>
                  </a:lnTo>
                  <a:lnTo>
                    <a:pt x="3170351" y="2009771"/>
                  </a:lnTo>
                  <a:lnTo>
                    <a:pt x="3207677" y="1994307"/>
                  </a:lnTo>
                  <a:lnTo>
                    <a:pt x="3228568" y="1955225"/>
                  </a:lnTo>
                  <a:lnTo>
                    <a:pt x="3228975" y="1951148"/>
                  </a:lnTo>
                  <a:lnTo>
                    <a:pt x="3228975" y="58623"/>
                  </a:lnTo>
                  <a:lnTo>
                    <a:pt x="3213506" y="21285"/>
                  </a:lnTo>
                  <a:lnTo>
                    <a:pt x="3174428" y="406"/>
                  </a:lnTo>
                  <a:lnTo>
                    <a:pt x="3170351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00512" y="3833812"/>
              <a:ext cx="3228975" cy="2009775"/>
            </a:xfrm>
            <a:custGeom>
              <a:avLst/>
              <a:gdLst/>
              <a:ahLst/>
              <a:cxnLst/>
              <a:rect l="l" t="t" r="r" b="b"/>
              <a:pathLst>
                <a:path w="3228975" h="2009775">
                  <a:moveTo>
                    <a:pt x="0" y="1947030"/>
                  </a:moveTo>
                  <a:lnTo>
                    <a:pt x="0" y="62750"/>
                  </a:lnTo>
                  <a:lnTo>
                    <a:pt x="0" y="58623"/>
                  </a:lnTo>
                  <a:lnTo>
                    <a:pt x="406" y="54546"/>
                  </a:lnTo>
                  <a:lnTo>
                    <a:pt x="1206" y="50507"/>
                  </a:lnTo>
                  <a:lnTo>
                    <a:pt x="2006" y="46469"/>
                  </a:lnTo>
                  <a:lnTo>
                    <a:pt x="3200" y="42545"/>
                  </a:lnTo>
                  <a:lnTo>
                    <a:pt x="4775" y="38735"/>
                  </a:lnTo>
                  <a:lnTo>
                    <a:pt x="6350" y="34925"/>
                  </a:lnTo>
                  <a:lnTo>
                    <a:pt x="8280" y="31305"/>
                  </a:lnTo>
                  <a:lnTo>
                    <a:pt x="38735" y="4775"/>
                  </a:lnTo>
                  <a:lnTo>
                    <a:pt x="42545" y="3200"/>
                  </a:lnTo>
                  <a:lnTo>
                    <a:pt x="46469" y="2006"/>
                  </a:lnTo>
                  <a:lnTo>
                    <a:pt x="50507" y="1206"/>
                  </a:lnTo>
                  <a:lnTo>
                    <a:pt x="54546" y="406"/>
                  </a:lnTo>
                  <a:lnTo>
                    <a:pt x="58623" y="0"/>
                  </a:lnTo>
                  <a:lnTo>
                    <a:pt x="62750" y="0"/>
                  </a:lnTo>
                  <a:lnTo>
                    <a:pt x="3166224" y="0"/>
                  </a:lnTo>
                  <a:lnTo>
                    <a:pt x="3170351" y="0"/>
                  </a:lnTo>
                  <a:lnTo>
                    <a:pt x="3174428" y="406"/>
                  </a:lnTo>
                  <a:lnTo>
                    <a:pt x="3178467" y="1206"/>
                  </a:lnTo>
                  <a:lnTo>
                    <a:pt x="3182505" y="2006"/>
                  </a:lnTo>
                  <a:lnTo>
                    <a:pt x="3186430" y="3200"/>
                  </a:lnTo>
                  <a:lnTo>
                    <a:pt x="3190240" y="4775"/>
                  </a:lnTo>
                  <a:lnTo>
                    <a:pt x="3194050" y="6350"/>
                  </a:lnTo>
                  <a:lnTo>
                    <a:pt x="3218395" y="27889"/>
                  </a:lnTo>
                  <a:lnTo>
                    <a:pt x="3220694" y="31305"/>
                  </a:lnTo>
                  <a:lnTo>
                    <a:pt x="3228975" y="58623"/>
                  </a:lnTo>
                  <a:lnTo>
                    <a:pt x="3228975" y="62750"/>
                  </a:lnTo>
                  <a:lnTo>
                    <a:pt x="3228975" y="1947030"/>
                  </a:lnTo>
                  <a:lnTo>
                    <a:pt x="3228975" y="1951148"/>
                  </a:lnTo>
                  <a:lnTo>
                    <a:pt x="3228568" y="1955225"/>
                  </a:lnTo>
                  <a:lnTo>
                    <a:pt x="3227768" y="1959268"/>
                  </a:lnTo>
                  <a:lnTo>
                    <a:pt x="3226968" y="1963312"/>
                  </a:lnTo>
                  <a:lnTo>
                    <a:pt x="3218395" y="1981885"/>
                  </a:lnTo>
                  <a:lnTo>
                    <a:pt x="3216109" y="1985313"/>
                  </a:lnTo>
                  <a:lnTo>
                    <a:pt x="3182505" y="2007762"/>
                  </a:lnTo>
                  <a:lnTo>
                    <a:pt x="3178467" y="2008565"/>
                  </a:lnTo>
                  <a:lnTo>
                    <a:pt x="3174428" y="2009373"/>
                  </a:lnTo>
                  <a:lnTo>
                    <a:pt x="3170351" y="2009771"/>
                  </a:lnTo>
                  <a:lnTo>
                    <a:pt x="3166224" y="2009776"/>
                  </a:lnTo>
                  <a:lnTo>
                    <a:pt x="62750" y="2009776"/>
                  </a:lnTo>
                  <a:lnTo>
                    <a:pt x="58623" y="2009771"/>
                  </a:lnTo>
                  <a:lnTo>
                    <a:pt x="54546" y="2009373"/>
                  </a:lnTo>
                  <a:lnTo>
                    <a:pt x="50507" y="2008565"/>
                  </a:lnTo>
                  <a:lnTo>
                    <a:pt x="46469" y="2007762"/>
                  </a:lnTo>
                  <a:lnTo>
                    <a:pt x="12865" y="1985313"/>
                  </a:lnTo>
                  <a:lnTo>
                    <a:pt x="0" y="1951148"/>
                  </a:lnTo>
                  <a:lnTo>
                    <a:pt x="0" y="1947030"/>
                  </a:lnTo>
                  <a:close/>
                </a:path>
              </a:pathLst>
            </a:custGeom>
            <a:ln w="952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289031" y="4011612"/>
            <a:ext cx="259016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30" dirty="0">
                <a:solidFill>
                  <a:srgbClr val="DAD8E9"/>
                </a:solidFill>
                <a:latin typeface="Trebuchet MS"/>
                <a:cs typeface="Trebuchet MS"/>
              </a:rPr>
              <a:t>Ma</a:t>
            </a:r>
            <a:r>
              <a:rPr sz="1650" cap="small" spc="130" dirty="0">
                <a:solidFill>
                  <a:srgbClr val="DAD8E9"/>
                </a:solidFill>
                <a:latin typeface="Trebuchet MS"/>
                <a:cs typeface="Trebuchet MS"/>
              </a:rPr>
              <a:t>ss</a:t>
            </a:r>
            <a:r>
              <a:rPr sz="1650" spc="130" dirty="0">
                <a:solidFill>
                  <a:srgbClr val="DAD8E9"/>
                </a:solidFill>
                <a:latin typeface="Trebuchet MS"/>
                <a:cs typeface="Trebuchet MS"/>
              </a:rPr>
              <a:t>ive</a:t>
            </a:r>
            <a:r>
              <a:rPr sz="1650" spc="12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45" dirty="0">
                <a:solidFill>
                  <a:srgbClr val="DAD8E9"/>
                </a:solidFill>
                <a:latin typeface="Trebuchet MS"/>
                <a:cs typeface="Trebuchet MS"/>
              </a:rPr>
              <a:t>Financial</a:t>
            </a:r>
            <a:r>
              <a:rPr sz="1650" spc="12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AD8E9"/>
                </a:solidFill>
                <a:latin typeface="Trebuchet MS"/>
                <a:cs typeface="Trebuchet MS"/>
              </a:rPr>
              <a:t>Impact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9031" y="4331176"/>
            <a:ext cx="2520950" cy="126365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134700"/>
              </a:lnSpc>
              <a:spcBef>
                <a:spcPts val="145"/>
              </a:spcBef>
            </a:pP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Walmart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lost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$3B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in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14" dirty="0">
                <a:solidFill>
                  <a:srgbClr val="DAD8E9"/>
                </a:solidFill>
                <a:latin typeface="Tahoma"/>
                <a:cs typeface="Tahoma"/>
              </a:rPr>
              <a:t>2013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due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to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stockouts</a:t>
            </a:r>
            <a:r>
              <a:rPr sz="1500" spc="-8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70" dirty="0">
                <a:solidFill>
                  <a:srgbClr val="DAD8E9"/>
                </a:solidFill>
                <a:latin typeface="Tahoma"/>
                <a:cs typeface="Tahoma"/>
              </a:rPr>
              <a:t>alone,</a:t>
            </a:r>
            <a:r>
              <a:rPr sz="1500" spc="-8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despite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continuously</a:t>
            </a: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growing</a:t>
            </a: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inventory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levels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24750" y="3829050"/>
            <a:ext cx="3228975" cy="2019300"/>
            <a:chOff x="7524750" y="3829050"/>
            <a:chExt cx="3228975" cy="2019300"/>
          </a:xfrm>
        </p:grpSpPr>
        <p:sp>
          <p:nvSpPr>
            <p:cNvPr id="14" name="object 14"/>
            <p:cNvSpPr/>
            <p:nvPr/>
          </p:nvSpPr>
          <p:spPr>
            <a:xfrm>
              <a:off x="7529512" y="3833812"/>
              <a:ext cx="3219450" cy="2009775"/>
            </a:xfrm>
            <a:custGeom>
              <a:avLst/>
              <a:gdLst/>
              <a:ahLst/>
              <a:cxnLst/>
              <a:rect l="l" t="t" r="r" b="b"/>
              <a:pathLst>
                <a:path w="3219450" h="2009775">
                  <a:moveTo>
                    <a:pt x="3160826" y="0"/>
                  </a:moveTo>
                  <a:lnTo>
                    <a:pt x="58623" y="0"/>
                  </a:lnTo>
                  <a:lnTo>
                    <a:pt x="54546" y="406"/>
                  </a:lnTo>
                  <a:lnTo>
                    <a:pt x="15468" y="21285"/>
                  </a:lnTo>
                  <a:lnTo>
                    <a:pt x="0" y="58623"/>
                  </a:lnTo>
                  <a:lnTo>
                    <a:pt x="0" y="1947030"/>
                  </a:lnTo>
                  <a:lnTo>
                    <a:pt x="0" y="1951148"/>
                  </a:lnTo>
                  <a:lnTo>
                    <a:pt x="15468" y="1988483"/>
                  </a:lnTo>
                  <a:lnTo>
                    <a:pt x="54546" y="2009373"/>
                  </a:lnTo>
                  <a:lnTo>
                    <a:pt x="58623" y="2009771"/>
                  </a:lnTo>
                  <a:lnTo>
                    <a:pt x="3160826" y="2009771"/>
                  </a:lnTo>
                  <a:lnTo>
                    <a:pt x="3198152" y="1994307"/>
                  </a:lnTo>
                  <a:lnTo>
                    <a:pt x="3219043" y="1955225"/>
                  </a:lnTo>
                  <a:lnTo>
                    <a:pt x="3219450" y="1951148"/>
                  </a:lnTo>
                  <a:lnTo>
                    <a:pt x="3219450" y="58623"/>
                  </a:lnTo>
                  <a:lnTo>
                    <a:pt x="3203981" y="21285"/>
                  </a:lnTo>
                  <a:lnTo>
                    <a:pt x="3164903" y="406"/>
                  </a:lnTo>
                  <a:lnTo>
                    <a:pt x="3160826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29512" y="3833812"/>
              <a:ext cx="3219450" cy="2009775"/>
            </a:xfrm>
            <a:custGeom>
              <a:avLst/>
              <a:gdLst/>
              <a:ahLst/>
              <a:cxnLst/>
              <a:rect l="l" t="t" r="r" b="b"/>
              <a:pathLst>
                <a:path w="3219450" h="2009775">
                  <a:moveTo>
                    <a:pt x="0" y="1947030"/>
                  </a:moveTo>
                  <a:lnTo>
                    <a:pt x="0" y="62750"/>
                  </a:lnTo>
                  <a:lnTo>
                    <a:pt x="0" y="58623"/>
                  </a:lnTo>
                  <a:lnTo>
                    <a:pt x="406" y="54546"/>
                  </a:lnTo>
                  <a:lnTo>
                    <a:pt x="18376" y="18376"/>
                  </a:lnTo>
                  <a:lnTo>
                    <a:pt x="38735" y="4775"/>
                  </a:lnTo>
                  <a:lnTo>
                    <a:pt x="42545" y="3200"/>
                  </a:lnTo>
                  <a:lnTo>
                    <a:pt x="46469" y="2006"/>
                  </a:lnTo>
                  <a:lnTo>
                    <a:pt x="50507" y="1206"/>
                  </a:lnTo>
                  <a:lnTo>
                    <a:pt x="54546" y="406"/>
                  </a:lnTo>
                  <a:lnTo>
                    <a:pt x="58623" y="0"/>
                  </a:lnTo>
                  <a:lnTo>
                    <a:pt x="62750" y="0"/>
                  </a:lnTo>
                  <a:lnTo>
                    <a:pt x="3156699" y="0"/>
                  </a:lnTo>
                  <a:lnTo>
                    <a:pt x="3160826" y="0"/>
                  </a:lnTo>
                  <a:lnTo>
                    <a:pt x="3164903" y="406"/>
                  </a:lnTo>
                  <a:lnTo>
                    <a:pt x="3168942" y="1206"/>
                  </a:lnTo>
                  <a:lnTo>
                    <a:pt x="3172980" y="2006"/>
                  </a:lnTo>
                  <a:lnTo>
                    <a:pt x="3176905" y="3200"/>
                  </a:lnTo>
                  <a:lnTo>
                    <a:pt x="3180715" y="4775"/>
                  </a:lnTo>
                  <a:lnTo>
                    <a:pt x="3184525" y="6350"/>
                  </a:lnTo>
                  <a:lnTo>
                    <a:pt x="3208870" y="27889"/>
                  </a:lnTo>
                  <a:lnTo>
                    <a:pt x="3211169" y="31305"/>
                  </a:lnTo>
                  <a:lnTo>
                    <a:pt x="3218243" y="50507"/>
                  </a:lnTo>
                  <a:lnTo>
                    <a:pt x="3219043" y="54546"/>
                  </a:lnTo>
                  <a:lnTo>
                    <a:pt x="3219450" y="58623"/>
                  </a:lnTo>
                  <a:lnTo>
                    <a:pt x="3219450" y="62750"/>
                  </a:lnTo>
                  <a:lnTo>
                    <a:pt x="3219450" y="1947030"/>
                  </a:lnTo>
                  <a:lnTo>
                    <a:pt x="3219450" y="1951148"/>
                  </a:lnTo>
                  <a:lnTo>
                    <a:pt x="3219043" y="1955225"/>
                  </a:lnTo>
                  <a:lnTo>
                    <a:pt x="3218243" y="1959268"/>
                  </a:lnTo>
                  <a:lnTo>
                    <a:pt x="3217443" y="1963312"/>
                  </a:lnTo>
                  <a:lnTo>
                    <a:pt x="3208870" y="1981885"/>
                  </a:lnTo>
                  <a:lnTo>
                    <a:pt x="3206584" y="1985313"/>
                  </a:lnTo>
                  <a:lnTo>
                    <a:pt x="3172980" y="2007762"/>
                  </a:lnTo>
                  <a:lnTo>
                    <a:pt x="3168942" y="2008565"/>
                  </a:lnTo>
                  <a:lnTo>
                    <a:pt x="3164903" y="2009373"/>
                  </a:lnTo>
                  <a:lnTo>
                    <a:pt x="3160826" y="2009771"/>
                  </a:lnTo>
                  <a:lnTo>
                    <a:pt x="3156699" y="2009776"/>
                  </a:lnTo>
                  <a:lnTo>
                    <a:pt x="62750" y="2009776"/>
                  </a:lnTo>
                  <a:lnTo>
                    <a:pt x="58623" y="2009771"/>
                  </a:lnTo>
                  <a:lnTo>
                    <a:pt x="54546" y="2009373"/>
                  </a:lnTo>
                  <a:lnTo>
                    <a:pt x="50507" y="2008565"/>
                  </a:lnTo>
                  <a:lnTo>
                    <a:pt x="46469" y="2007762"/>
                  </a:lnTo>
                  <a:lnTo>
                    <a:pt x="12865" y="1985313"/>
                  </a:lnTo>
                  <a:lnTo>
                    <a:pt x="0" y="1951148"/>
                  </a:lnTo>
                  <a:lnTo>
                    <a:pt x="0" y="1947030"/>
                  </a:lnTo>
                  <a:close/>
                </a:path>
              </a:pathLst>
            </a:custGeom>
            <a:ln w="952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13268" y="4011612"/>
            <a:ext cx="196723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95" dirty="0">
                <a:solidFill>
                  <a:srgbClr val="DAD8E9"/>
                </a:solidFill>
                <a:latin typeface="Trebuchet MS"/>
                <a:cs typeface="Trebuchet MS"/>
              </a:rPr>
              <a:t>Sy</a:t>
            </a:r>
            <a:r>
              <a:rPr sz="1650" cap="small" spc="95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95" dirty="0">
                <a:solidFill>
                  <a:srgbClr val="DAD8E9"/>
                </a:solidFill>
                <a:latin typeface="Trebuchet MS"/>
                <a:cs typeface="Trebuchet MS"/>
              </a:rPr>
              <a:t>tem</a:t>
            </a:r>
            <a:r>
              <a:rPr sz="1650" spc="13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20" dirty="0">
                <a:solidFill>
                  <a:srgbClr val="DAD8E9"/>
                </a:solidFill>
                <a:latin typeface="Trebuchet MS"/>
                <a:cs typeface="Trebuchet MS"/>
              </a:rPr>
              <a:t>Limitation</a:t>
            </a:r>
            <a:r>
              <a:rPr sz="1650" cap="small" spc="20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13268" y="4331176"/>
            <a:ext cx="2735580" cy="126365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134700"/>
              </a:lnSpc>
              <a:spcBef>
                <a:spcPts val="145"/>
              </a:spcBef>
            </a:pP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Traditional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static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systems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struggle </a:t>
            </a:r>
            <a:r>
              <a:rPr sz="1500" dirty="0">
                <a:solidFill>
                  <a:srgbClr val="DAD8E9"/>
                </a:solidFill>
                <a:latin typeface="Tahoma"/>
                <a:cs typeface="Tahoma"/>
              </a:rPr>
              <a:t>to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adapt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DAD8E9"/>
                </a:solidFill>
                <a:latin typeface="Tahoma"/>
                <a:cs typeface="Tahoma"/>
              </a:rPr>
              <a:t>to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rapidly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changing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demand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patterns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supply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chain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disruptions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124700"/>
          </a:xfrm>
          <a:custGeom>
            <a:avLst/>
            <a:gdLst/>
            <a:ahLst/>
            <a:cxnLst/>
            <a:rect l="l" t="t" r="r" b="b"/>
            <a:pathLst>
              <a:path w="11430000" h="7124700">
                <a:moveTo>
                  <a:pt x="11430000" y="0"/>
                </a:moveTo>
                <a:lnTo>
                  <a:pt x="0" y="0"/>
                </a:lnTo>
                <a:lnTo>
                  <a:pt x="0" y="7124700"/>
                </a:lnTo>
                <a:lnTo>
                  <a:pt x="11430000" y="71247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A0C2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2385" y="501650"/>
            <a:ext cx="615188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60" dirty="0"/>
              <a:t>Why</a:t>
            </a:r>
            <a:r>
              <a:rPr spc="215" dirty="0"/>
              <a:t> </a:t>
            </a:r>
            <a:r>
              <a:rPr spc="229" dirty="0"/>
              <a:t>AI</a:t>
            </a:r>
            <a:r>
              <a:rPr spc="215" dirty="0"/>
              <a:t> </a:t>
            </a:r>
            <a:r>
              <a:rPr spc="155" dirty="0"/>
              <a:t>i</a:t>
            </a:r>
            <a:r>
              <a:rPr cap="small" spc="155" dirty="0"/>
              <a:t>s</a:t>
            </a:r>
            <a:r>
              <a:rPr spc="215" dirty="0"/>
              <a:t> </a:t>
            </a:r>
            <a:r>
              <a:rPr spc="145" dirty="0"/>
              <a:t>the</a:t>
            </a:r>
            <a:r>
              <a:rPr spc="215" dirty="0"/>
              <a:t> </a:t>
            </a:r>
            <a:r>
              <a:rPr spc="195" dirty="0"/>
              <a:t>Game-</a:t>
            </a:r>
            <a:r>
              <a:rPr spc="190" dirty="0"/>
              <a:t>Changer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5" y="1571624"/>
            <a:ext cx="4800599" cy="481012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34938" y="1541589"/>
            <a:ext cx="1931670" cy="1266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5000" spc="695" dirty="0">
                <a:solidFill>
                  <a:srgbClr val="DAD8E9"/>
                </a:solidFill>
                <a:latin typeface="Trebuchet MS"/>
                <a:cs typeface="Trebuchet MS"/>
              </a:rPr>
              <a:t>95%</a:t>
            </a:r>
            <a:endParaRPr sz="5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775"/>
              </a:spcBef>
            </a:pPr>
            <a:r>
              <a:rPr sz="1650" spc="75" dirty="0">
                <a:solidFill>
                  <a:srgbClr val="DAD8E9"/>
                </a:solidFill>
                <a:latin typeface="Trebuchet MS"/>
                <a:cs typeface="Trebuchet MS"/>
              </a:rPr>
              <a:t>Foreca</a:t>
            </a:r>
            <a:r>
              <a:rPr sz="1650" cap="small" spc="75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75" dirty="0">
                <a:solidFill>
                  <a:srgbClr val="DAD8E9"/>
                </a:solidFill>
                <a:latin typeface="Trebuchet MS"/>
                <a:cs typeface="Trebuchet MS"/>
              </a:rPr>
              <a:t>t</a:t>
            </a:r>
            <a:r>
              <a:rPr sz="1650" spc="12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70" dirty="0">
                <a:solidFill>
                  <a:srgbClr val="DAD8E9"/>
                </a:solidFill>
                <a:latin typeface="Trebuchet MS"/>
                <a:cs typeface="Trebuchet MS"/>
              </a:rPr>
              <a:t>Accuracy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56790" y="2940526"/>
            <a:ext cx="2287905" cy="12541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065" marR="5080" indent="-635" algn="ctr">
              <a:lnSpc>
                <a:spcPct val="134700"/>
              </a:lnSpc>
              <a:spcBef>
                <a:spcPts val="70"/>
              </a:spcBef>
            </a:pPr>
            <a:r>
              <a:rPr sz="1500" spc="-125" dirty="0">
                <a:solidFill>
                  <a:srgbClr val="DAD8E9"/>
                </a:solidFill>
                <a:latin typeface="Tahoma"/>
                <a:cs typeface="Tahoma"/>
              </a:rPr>
              <a:t>AI</a:t>
            </a:r>
            <a:r>
              <a:rPr sz="1500" spc="-114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boosts</a:t>
            </a:r>
            <a:r>
              <a:rPr sz="1500" spc="-114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demand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forecasting</a:t>
            </a: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precision</a:t>
            </a: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from </a:t>
            </a:r>
            <a:r>
              <a:rPr sz="1500" spc="-130" dirty="0">
                <a:solidFill>
                  <a:srgbClr val="DAD8E9"/>
                </a:solidFill>
                <a:latin typeface="Tahoma"/>
                <a:cs typeface="Tahoma"/>
              </a:rPr>
              <a:t>63%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DAD8E9"/>
                </a:solidFill>
                <a:latin typeface="Tahoma"/>
                <a:cs typeface="Tahoma"/>
              </a:rPr>
              <a:t>to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95-</a:t>
            </a:r>
            <a:r>
              <a:rPr sz="1500" spc="-125" dirty="0">
                <a:solidFill>
                  <a:srgbClr val="DAD8E9"/>
                </a:solidFill>
                <a:latin typeface="Tahoma"/>
                <a:cs typeface="Tahoma"/>
              </a:rPr>
              <a:t>99%,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according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to 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IBM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McKinsey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research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84793" y="1541589"/>
            <a:ext cx="2277745" cy="1266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5000" spc="535" dirty="0">
                <a:solidFill>
                  <a:srgbClr val="DAD8E9"/>
                </a:solidFill>
                <a:latin typeface="Trebuchet MS"/>
                <a:cs typeface="Trebuchet MS"/>
              </a:rPr>
              <a:t>100%</a:t>
            </a:r>
            <a:endParaRPr sz="5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775"/>
              </a:spcBef>
            </a:pPr>
            <a:r>
              <a:rPr sz="1650" dirty="0">
                <a:solidFill>
                  <a:srgbClr val="DAD8E9"/>
                </a:solidFill>
                <a:latin typeface="Trebuchet MS"/>
                <a:cs typeface="Trebuchet MS"/>
              </a:rPr>
              <a:t>Real-</a:t>
            </a:r>
            <a:r>
              <a:rPr sz="1650" spc="50" dirty="0">
                <a:solidFill>
                  <a:srgbClr val="DAD8E9"/>
                </a:solidFill>
                <a:latin typeface="Trebuchet MS"/>
                <a:cs typeface="Trebuchet MS"/>
              </a:rPr>
              <a:t>Time</a:t>
            </a:r>
            <a:r>
              <a:rPr sz="1650" spc="36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85" dirty="0">
                <a:solidFill>
                  <a:srgbClr val="DAD8E9"/>
                </a:solidFill>
                <a:latin typeface="Trebuchet MS"/>
                <a:cs typeface="Trebuchet MS"/>
              </a:rPr>
              <a:t>Adaptation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1468" y="2940526"/>
            <a:ext cx="2144395" cy="9493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ctr">
              <a:lnSpc>
                <a:spcPct val="135400"/>
              </a:lnSpc>
              <a:spcBef>
                <a:spcPts val="60"/>
              </a:spcBef>
            </a:pP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Self-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learning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systems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instantly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adjust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DAD8E9"/>
                </a:solidFill>
                <a:latin typeface="Tahoma"/>
                <a:cs typeface="Tahoma"/>
              </a:rPr>
              <a:t>to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market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shifts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emerging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trends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7130" y="4388326"/>
            <a:ext cx="4483735" cy="9493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60"/>
              </a:spcBef>
            </a:pP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Automated</a:t>
            </a: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restock</a:t>
            </a: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capabilities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dramatically</a:t>
            </a: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reduce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stockouts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while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minimizing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holding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costs,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creating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faster fulfillment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cycles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improved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customer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satisfaction.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52399" y="-161926"/>
            <a:ext cx="11582400" cy="8534401"/>
          </a:xfrm>
          <a:custGeom>
            <a:avLst/>
            <a:gdLst/>
            <a:ahLst/>
            <a:cxnLst/>
            <a:rect l="l" t="t" r="r" b="b"/>
            <a:pathLst>
              <a:path w="11430000" h="8162925">
                <a:moveTo>
                  <a:pt x="11430000" y="0"/>
                </a:moveTo>
                <a:lnTo>
                  <a:pt x="0" y="0"/>
                </a:lnTo>
                <a:lnTo>
                  <a:pt x="0" y="8162925"/>
                </a:lnTo>
                <a:lnTo>
                  <a:pt x="11430000" y="81629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A0C2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97957" y="879690"/>
            <a:ext cx="2800350" cy="3362325"/>
            <a:chOff x="4962525" y="1895475"/>
            <a:chExt cx="2800350" cy="3362325"/>
          </a:xfrm>
        </p:grpSpPr>
        <p:sp>
          <p:nvSpPr>
            <p:cNvPr id="6" name="object 6"/>
            <p:cNvSpPr/>
            <p:nvPr/>
          </p:nvSpPr>
          <p:spPr>
            <a:xfrm>
              <a:off x="4967287" y="1900237"/>
              <a:ext cx="2790825" cy="3352800"/>
            </a:xfrm>
            <a:custGeom>
              <a:avLst/>
              <a:gdLst/>
              <a:ahLst/>
              <a:cxnLst/>
              <a:rect l="l" t="t" r="r" b="b"/>
              <a:pathLst>
                <a:path w="2790825" h="3352800">
                  <a:moveTo>
                    <a:pt x="2732201" y="0"/>
                  </a:moveTo>
                  <a:lnTo>
                    <a:pt x="58623" y="0"/>
                  </a:lnTo>
                  <a:lnTo>
                    <a:pt x="54546" y="393"/>
                  </a:lnTo>
                  <a:lnTo>
                    <a:pt x="15468" y="21285"/>
                  </a:lnTo>
                  <a:lnTo>
                    <a:pt x="0" y="58623"/>
                  </a:lnTo>
                  <a:lnTo>
                    <a:pt x="0" y="3290049"/>
                  </a:lnTo>
                  <a:lnTo>
                    <a:pt x="0" y="3294176"/>
                  </a:lnTo>
                  <a:lnTo>
                    <a:pt x="15468" y="3331502"/>
                  </a:lnTo>
                  <a:lnTo>
                    <a:pt x="54546" y="3352393"/>
                  </a:lnTo>
                  <a:lnTo>
                    <a:pt x="58623" y="3352800"/>
                  </a:lnTo>
                  <a:lnTo>
                    <a:pt x="2732201" y="3352800"/>
                  </a:lnTo>
                  <a:lnTo>
                    <a:pt x="2769527" y="3337331"/>
                  </a:lnTo>
                  <a:lnTo>
                    <a:pt x="2790418" y="3298253"/>
                  </a:lnTo>
                  <a:lnTo>
                    <a:pt x="2790825" y="3294176"/>
                  </a:lnTo>
                  <a:lnTo>
                    <a:pt x="2790825" y="58623"/>
                  </a:lnTo>
                  <a:lnTo>
                    <a:pt x="2775356" y="21285"/>
                  </a:lnTo>
                  <a:lnTo>
                    <a:pt x="2736278" y="393"/>
                  </a:lnTo>
                  <a:lnTo>
                    <a:pt x="2732201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67287" y="1900237"/>
              <a:ext cx="2790825" cy="3352800"/>
            </a:xfrm>
            <a:custGeom>
              <a:avLst/>
              <a:gdLst/>
              <a:ahLst/>
              <a:cxnLst/>
              <a:rect l="l" t="t" r="r" b="b"/>
              <a:pathLst>
                <a:path w="2790825" h="3352800">
                  <a:moveTo>
                    <a:pt x="0" y="3290049"/>
                  </a:moveTo>
                  <a:lnTo>
                    <a:pt x="0" y="62738"/>
                  </a:lnTo>
                  <a:lnTo>
                    <a:pt x="0" y="58623"/>
                  </a:lnTo>
                  <a:lnTo>
                    <a:pt x="406" y="54546"/>
                  </a:lnTo>
                  <a:lnTo>
                    <a:pt x="1206" y="50507"/>
                  </a:lnTo>
                  <a:lnTo>
                    <a:pt x="2006" y="46456"/>
                  </a:lnTo>
                  <a:lnTo>
                    <a:pt x="3200" y="42532"/>
                  </a:lnTo>
                  <a:lnTo>
                    <a:pt x="4775" y="38735"/>
                  </a:lnTo>
                  <a:lnTo>
                    <a:pt x="6350" y="34925"/>
                  </a:lnTo>
                  <a:lnTo>
                    <a:pt x="8280" y="31305"/>
                  </a:lnTo>
                  <a:lnTo>
                    <a:pt x="38735" y="4775"/>
                  </a:lnTo>
                  <a:lnTo>
                    <a:pt x="42545" y="3200"/>
                  </a:lnTo>
                  <a:lnTo>
                    <a:pt x="46469" y="2006"/>
                  </a:lnTo>
                  <a:lnTo>
                    <a:pt x="50507" y="1206"/>
                  </a:lnTo>
                  <a:lnTo>
                    <a:pt x="54546" y="393"/>
                  </a:lnTo>
                  <a:lnTo>
                    <a:pt x="58623" y="0"/>
                  </a:lnTo>
                  <a:lnTo>
                    <a:pt x="62750" y="0"/>
                  </a:lnTo>
                  <a:lnTo>
                    <a:pt x="2728074" y="0"/>
                  </a:lnTo>
                  <a:lnTo>
                    <a:pt x="2732201" y="0"/>
                  </a:lnTo>
                  <a:lnTo>
                    <a:pt x="2736278" y="393"/>
                  </a:lnTo>
                  <a:lnTo>
                    <a:pt x="2740317" y="1206"/>
                  </a:lnTo>
                  <a:lnTo>
                    <a:pt x="2744355" y="2006"/>
                  </a:lnTo>
                  <a:lnTo>
                    <a:pt x="2748280" y="3200"/>
                  </a:lnTo>
                  <a:lnTo>
                    <a:pt x="2752090" y="4775"/>
                  </a:lnTo>
                  <a:lnTo>
                    <a:pt x="2755900" y="6350"/>
                  </a:lnTo>
                  <a:lnTo>
                    <a:pt x="2780245" y="27889"/>
                  </a:lnTo>
                  <a:lnTo>
                    <a:pt x="2782544" y="31305"/>
                  </a:lnTo>
                  <a:lnTo>
                    <a:pt x="2784475" y="34925"/>
                  </a:lnTo>
                  <a:lnTo>
                    <a:pt x="2786049" y="38735"/>
                  </a:lnTo>
                  <a:lnTo>
                    <a:pt x="2787624" y="42532"/>
                  </a:lnTo>
                  <a:lnTo>
                    <a:pt x="2788818" y="46456"/>
                  </a:lnTo>
                  <a:lnTo>
                    <a:pt x="2789618" y="50507"/>
                  </a:lnTo>
                  <a:lnTo>
                    <a:pt x="2790418" y="54546"/>
                  </a:lnTo>
                  <a:lnTo>
                    <a:pt x="2790825" y="58623"/>
                  </a:lnTo>
                  <a:lnTo>
                    <a:pt x="2790825" y="62738"/>
                  </a:lnTo>
                  <a:lnTo>
                    <a:pt x="2790825" y="3290049"/>
                  </a:lnTo>
                  <a:lnTo>
                    <a:pt x="2790825" y="3294176"/>
                  </a:lnTo>
                  <a:lnTo>
                    <a:pt x="2790418" y="3298253"/>
                  </a:lnTo>
                  <a:lnTo>
                    <a:pt x="2780245" y="3324910"/>
                  </a:lnTo>
                  <a:lnTo>
                    <a:pt x="2777959" y="3328339"/>
                  </a:lnTo>
                  <a:lnTo>
                    <a:pt x="2762935" y="3342220"/>
                  </a:lnTo>
                  <a:lnTo>
                    <a:pt x="2759506" y="3344506"/>
                  </a:lnTo>
                  <a:lnTo>
                    <a:pt x="2755900" y="3346450"/>
                  </a:lnTo>
                  <a:lnTo>
                    <a:pt x="2752090" y="3348024"/>
                  </a:lnTo>
                  <a:lnTo>
                    <a:pt x="2748280" y="3349599"/>
                  </a:lnTo>
                  <a:lnTo>
                    <a:pt x="2744355" y="3350793"/>
                  </a:lnTo>
                  <a:lnTo>
                    <a:pt x="2740317" y="3351593"/>
                  </a:lnTo>
                  <a:lnTo>
                    <a:pt x="2736278" y="3352393"/>
                  </a:lnTo>
                  <a:lnTo>
                    <a:pt x="2732201" y="3352800"/>
                  </a:lnTo>
                  <a:lnTo>
                    <a:pt x="2728074" y="3352800"/>
                  </a:lnTo>
                  <a:lnTo>
                    <a:pt x="62750" y="3352800"/>
                  </a:lnTo>
                  <a:lnTo>
                    <a:pt x="58623" y="3352800"/>
                  </a:lnTo>
                  <a:lnTo>
                    <a:pt x="54546" y="3352393"/>
                  </a:lnTo>
                  <a:lnTo>
                    <a:pt x="50507" y="3351593"/>
                  </a:lnTo>
                  <a:lnTo>
                    <a:pt x="46469" y="3350793"/>
                  </a:lnTo>
                  <a:lnTo>
                    <a:pt x="42545" y="3349599"/>
                  </a:lnTo>
                  <a:lnTo>
                    <a:pt x="38735" y="3348024"/>
                  </a:lnTo>
                  <a:lnTo>
                    <a:pt x="34925" y="3346450"/>
                  </a:lnTo>
                  <a:lnTo>
                    <a:pt x="6350" y="3317875"/>
                  </a:lnTo>
                  <a:lnTo>
                    <a:pt x="4775" y="3314065"/>
                  </a:lnTo>
                  <a:lnTo>
                    <a:pt x="3200" y="3310255"/>
                  </a:lnTo>
                  <a:lnTo>
                    <a:pt x="2006" y="3306330"/>
                  </a:lnTo>
                  <a:lnTo>
                    <a:pt x="1206" y="3302292"/>
                  </a:lnTo>
                  <a:lnTo>
                    <a:pt x="406" y="3298253"/>
                  </a:lnTo>
                  <a:lnTo>
                    <a:pt x="0" y="3294176"/>
                  </a:lnTo>
                  <a:lnTo>
                    <a:pt x="0" y="3290049"/>
                  </a:lnTo>
                  <a:close/>
                </a:path>
              </a:pathLst>
            </a:custGeom>
            <a:ln w="952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62550" y="2095500"/>
              <a:ext cx="581025" cy="581025"/>
            </a:xfrm>
            <a:custGeom>
              <a:avLst/>
              <a:gdLst/>
              <a:ahLst/>
              <a:cxnLst/>
              <a:rect l="l" t="t" r="r" b="b"/>
              <a:pathLst>
                <a:path w="581025" h="581025">
                  <a:moveTo>
                    <a:pt x="290512" y="0"/>
                  </a:moveTo>
                  <a:lnTo>
                    <a:pt x="247889" y="3140"/>
                  </a:lnTo>
                  <a:lnTo>
                    <a:pt x="206184" y="12509"/>
                  </a:lnTo>
                  <a:lnTo>
                    <a:pt x="166300" y="27892"/>
                  </a:lnTo>
                  <a:lnTo>
                    <a:pt x="129108" y="48958"/>
                  </a:lnTo>
                  <a:lnTo>
                    <a:pt x="95416" y="75257"/>
                  </a:lnTo>
                  <a:lnTo>
                    <a:pt x="65938" y="106210"/>
                  </a:lnTo>
                  <a:lnTo>
                    <a:pt x="41330" y="141157"/>
                  </a:lnTo>
                  <a:lnTo>
                    <a:pt x="22110" y="179336"/>
                  </a:lnTo>
                  <a:lnTo>
                    <a:pt x="8709" y="219927"/>
                  </a:lnTo>
                  <a:lnTo>
                    <a:pt x="1397" y="262039"/>
                  </a:lnTo>
                  <a:lnTo>
                    <a:pt x="0" y="290512"/>
                  </a:lnTo>
                  <a:lnTo>
                    <a:pt x="87" y="297643"/>
                  </a:lnTo>
                  <a:lnTo>
                    <a:pt x="4272" y="340179"/>
                  </a:lnTo>
                  <a:lnTo>
                    <a:pt x="14661" y="381641"/>
                  </a:lnTo>
                  <a:lnTo>
                    <a:pt x="31018" y="421124"/>
                  </a:lnTo>
                  <a:lnTo>
                    <a:pt x="52992" y="457793"/>
                  </a:lnTo>
                  <a:lnTo>
                    <a:pt x="80108" y="490829"/>
                  </a:lnTo>
                  <a:lnTo>
                    <a:pt x="111777" y="519541"/>
                  </a:lnTo>
                  <a:lnTo>
                    <a:pt x="147317" y="543283"/>
                  </a:lnTo>
                  <a:lnTo>
                    <a:pt x="185958" y="561562"/>
                  </a:lnTo>
                  <a:lnTo>
                    <a:pt x="226860" y="573962"/>
                  </a:lnTo>
                  <a:lnTo>
                    <a:pt x="269147" y="580237"/>
                  </a:lnTo>
                  <a:lnTo>
                    <a:pt x="290512" y="581025"/>
                  </a:lnTo>
                  <a:lnTo>
                    <a:pt x="297642" y="580937"/>
                  </a:lnTo>
                  <a:lnTo>
                    <a:pt x="340179" y="576741"/>
                  </a:lnTo>
                  <a:lnTo>
                    <a:pt x="381641" y="566359"/>
                  </a:lnTo>
                  <a:lnTo>
                    <a:pt x="421124" y="550006"/>
                  </a:lnTo>
                  <a:lnTo>
                    <a:pt x="457798" y="528032"/>
                  </a:lnTo>
                  <a:lnTo>
                    <a:pt x="490829" y="500916"/>
                  </a:lnTo>
                  <a:lnTo>
                    <a:pt x="519536" y="469245"/>
                  </a:lnTo>
                  <a:lnTo>
                    <a:pt x="543283" y="433707"/>
                  </a:lnTo>
                  <a:lnTo>
                    <a:pt x="561559" y="395066"/>
                  </a:lnTo>
                  <a:lnTo>
                    <a:pt x="573966" y="354164"/>
                  </a:lnTo>
                  <a:lnTo>
                    <a:pt x="580237" y="311883"/>
                  </a:lnTo>
                  <a:lnTo>
                    <a:pt x="581025" y="290512"/>
                  </a:lnTo>
                  <a:lnTo>
                    <a:pt x="580937" y="283381"/>
                  </a:lnTo>
                  <a:lnTo>
                    <a:pt x="576752" y="240845"/>
                  </a:lnTo>
                  <a:lnTo>
                    <a:pt x="566363" y="199383"/>
                  </a:lnTo>
                  <a:lnTo>
                    <a:pt x="550006" y="159900"/>
                  </a:lnTo>
                  <a:lnTo>
                    <a:pt x="528032" y="123226"/>
                  </a:lnTo>
                  <a:lnTo>
                    <a:pt x="500916" y="90195"/>
                  </a:lnTo>
                  <a:lnTo>
                    <a:pt x="469247" y="61483"/>
                  </a:lnTo>
                  <a:lnTo>
                    <a:pt x="433707" y="37741"/>
                  </a:lnTo>
                  <a:lnTo>
                    <a:pt x="395066" y="19467"/>
                  </a:lnTo>
                  <a:lnTo>
                    <a:pt x="354170" y="7062"/>
                  </a:lnTo>
                  <a:lnTo>
                    <a:pt x="311877" y="787"/>
                  </a:lnTo>
                  <a:lnTo>
                    <a:pt x="290512" y="0"/>
                  </a:lnTo>
                  <a:close/>
                </a:path>
              </a:pathLst>
            </a:custGeom>
            <a:solidFill>
              <a:srgbClr val="A85B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24475" y="2269934"/>
              <a:ext cx="260350" cy="235585"/>
            </a:xfrm>
            <a:custGeom>
              <a:avLst/>
              <a:gdLst/>
              <a:ahLst/>
              <a:cxnLst/>
              <a:rect l="l" t="t" r="r" b="b"/>
              <a:pathLst>
                <a:path w="260350" h="235585">
                  <a:moveTo>
                    <a:pt x="0" y="0"/>
                  </a:moveTo>
                  <a:lnTo>
                    <a:pt x="63" y="235280"/>
                  </a:lnTo>
                  <a:lnTo>
                    <a:pt x="260057" y="235267"/>
                  </a:lnTo>
                </a:path>
                <a:path w="260350" h="235585">
                  <a:moveTo>
                    <a:pt x="213131" y="16548"/>
                  </a:moveTo>
                  <a:lnTo>
                    <a:pt x="259016" y="2857"/>
                  </a:lnTo>
                  <a:lnTo>
                    <a:pt x="161150" y="134785"/>
                  </a:lnTo>
                  <a:lnTo>
                    <a:pt x="115824" y="87223"/>
                  </a:lnTo>
                </a:path>
                <a:path w="260350" h="235585">
                  <a:moveTo>
                    <a:pt x="28867" y="194437"/>
                  </a:moveTo>
                  <a:lnTo>
                    <a:pt x="115824" y="87223"/>
                  </a:lnTo>
                </a:path>
                <a:path w="260350" h="235585">
                  <a:moveTo>
                    <a:pt x="260159" y="49326"/>
                  </a:moveTo>
                  <a:lnTo>
                    <a:pt x="260299" y="2476"/>
                  </a:lnTo>
                </a:path>
              </a:pathLst>
            </a:custGeom>
            <a:ln w="1168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17877" y="2338431"/>
            <a:ext cx="228663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00" dirty="0">
                <a:solidFill>
                  <a:srgbClr val="DAD8E9"/>
                </a:solidFill>
                <a:latin typeface="Trebuchet MS"/>
                <a:cs typeface="Trebuchet MS"/>
              </a:rPr>
              <a:t>AI-Driven</a:t>
            </a:r>
            <a:r>
              <a:rPr sz="1650" spc="13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45" dirty="0">
                <a:solidFill>
                  <a:srgbClr val="DAD8E9"/>
                </a:solidFill>
                <a:latin typeface="Trebuchet MS"/>
                <a:cs typeface="Trebuchet MS"/>
              </a:rPr>
              <a:t>Foreca</a:t>
            </a:r>
            <a:r>
              <a:rPr sz="1650" cap="small" spc="45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45" dirty="0">
                <a:solidFill>
                  <a:srgbClr val="DAD8E9"/>
                </a:solidFill>
                <a:latin typeface="Trebuchet MS"/>
                <a:cs typeface="Trebuchet MS"/>
              </a:rPr>
              <a:t>ting</a:t>
            </a:r>
            <a:endParaRPr sz="165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7877" y="2578057"/>
            <a:ext cx="2233295" cy="126365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134700"/>
              </a:lnSpc>
              <a:spcBef>
                <a:spcPts val="145"/>
              </a:spcBef>
            </a:pP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Predicts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what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products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will </a:t>
            </a:r>
            <a:r>
              <a:rPr sz="1500" spc="-70" dirty="0">
                <a:solidFill>
                  <a:srgbClr val="DAD8E9"/>
                </a:solidFill>
                <a:latin typeface="Tahoma"/>
                <a:cs typeface="Tahoma"/>
              </a:rPr>
              <a:t>sell,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when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demand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will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80" dirty="0">
                <a:solidFill>
                  <a:srgbClr val="DAD8E9"/>
                </a:solidFill>
                <a:latin typeface="Tahoma"/>
                <a:cs typeface="Tahoma"/>
              </a:rPr>
              <a:t>peak,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where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inventory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is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needed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most</a:t>
            </a:r>
            <a:endParaRPr sz="1500" dirty="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02102" y="870385"/>
            <a:ext cx="2800350" cy="3362325"/>
            <a:chOff x="7953375" y="1895475"/>
            <a:chExt cx="2800350" cy="3362325"/>
          </a:xfrm>
        </p:grpSpPr>
        <p:sp>
          <p:nvSpPr>
            <p:cNvPr id="13" name="object 13"/>
            <p:cNvSpPr/>
            <p:nvPr/>
          </p:nvSpPr>
          <p:spPr>
            <a:xfrm>
              <a:off x="7958137" y="1900237"/>
              <a:ext cx="2790825" cy="3352800"/>
            </a:xfrm>
            <a:custGeom>
              <a:avLst/>
              <a:gdLst/>
              <a:ahLst/>
              <a:cxnLst/>
              <a:rect l="l" t="t" r="r" b="b"/>
              <a:pathLst>
                <a:path w="2790825" h="3352800">
                  <a:moveTo>
                    <a:pt x="2732201" y="0"/>
                  </a:moveTo>
                  <a:lnTo>
                    <a:pt x="58623" y="0"/>
                  </a:lnTo>
                  <a:lnTo>
                    <a:pt x="54546" y="393"/>
                  </a:lnTo>
                  <a:lnTo>
                    <a:pt x="15468" y="21285"/>
                  </a:lnTo>
                  <a:lnTo>
                    <a:pt x="0" y="58623"/>
                  </a:lnTo>
                  <a:lnTo>
                    <a:pt x="0" y="3290049"/>
                  </a:lnTo>
                  <a:lnTo>
                    <a:pt x="0" y="3294176"/>
                  </a:lnTo>
                  <a:lnTo>
                    <a:pt x="15468" y="3331502"/>
                  </a:lnTo>
                  <a:lnTo>
                    <a:pt x="54546" y="3352393"/>
                  </a:lnTo>
                  <a:lnTo>
                    <a:pt x="58623" y="3352800"/>
                  </a:lnTo>
                  <a:lnTo>
                    <a:pt x="2732201" y="3352800"/>
                  </a:lnTo>
                  <a:lnTo>
                    <a:pt x="2769527" y="3337331"/>
                  </a:lnTo>
                  <a:lnTo>
                    <a:pt x="2790418" y="3298253"/>
                  </a:lnTo>
                  <a:lnTo>
                    <a:pt x="2790825" y="3294176"/>
                  </a:lnTo>
                  <a:lnTo>
                    <a:pt x="2790825" y="58623"/>
                  </a:lnTo>
                  <a:lnTo>
                    <a:pt x="2775356" y="21285"/>
                  </a:lnTo>
                  <a:lnTo>
                    <a:pt x="2736278" y="393"/>
                  </a:lnTo>
                  <a:lnTo>
                    <a:pt x="2732201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58137" y="1900237"/>
              <a:ext cx="2790825" cy="3352800"/>
            </a:xfrm>
            <a:custGeom>
              <a:avLst/>
              <a:gdLst/>
              <a:ahLst/>
              <a:cxnLst/>
              <a:rect l="l" t="t" r="r" b="b"/>
              <a:pathLst>
                <a:path w="2790825" h="3352800">
                  <a:moveTo>
                    <a:pt x="0" y="3290049"/>
                  </a:moveTo>
                  <a:lnTo>
                    <a:pt x="0" y="62738"/>
                  </a:lnTo>
                  <a:lnTo>
                    <a:pt x="0" y="58623"/>
                  </a:lnTo>
                  <a:lnTo>
                    <a:pt x="406" y="54546"/>
                  </a:lnTo>
                  <a:lnTo>
                    <a:pt x="1206" y="50507"/>
                  </a:lnTo>
                  <a:lnTo>
                    <a:pt x="2006" y="46456"/>
                  </a:lnTo>
                  <a:lnTo>
                    <a:pt x="3200" y="42532"/>
                  </a:lnTo>
                  <a:lnTo>
                    <a:pt x="4775" y="38735"/>
                  </a:lnTo>
                  <a:lnTo>
                    <a:pt x="6350" y="34925"/>
                  </a:lnTo>
                  <a:lnTo>
                    <a:pt x="8280" y="31305"/>
                  </a:lnTo>
                  <a:lnTo>
                    <a:pt x="38735" y="4775"/>
                  </a:lnTo>
                  <a:lnTo>
                    <a:pt x="42545" y="3200"/>
                  </a:lnTo>
                  <a:lnTo>
                    <a:pt x="46469" y="2006"/>
                  </a:lnTo>
                  <a:lnTo>
                    <a:pt x="50507" y="1206"/>
                  </a:lnTo>
                  <a:lnTo>
                    <a:pt x="54546" y="393"/>
                  </a:lnTo>
                  <a:lnTo>
                    <a:pt x="58623" y="0"/>
                  </a:lnTo>
                  <a:lnTo>
                    <a:pt x="62750" y="0"/>
                  </a:lnTo>
                  <a:lnTo>
                    <a:pt x="2728074" y="0"/>
                  </a:lnTo>
                  <a:lnTo>
                    <a:pt x="2732201" y="0"/>
                  </a:lnTo>
                  <a:lnTo>
                    <a:pt x="2736278" y="393"/>
                  </a:lnTo>
                  <a:lnTo>
                    <a:pt x="2740317" y="1206"/>
                  </a:lnTo>
                  <a:lnTo>
                    <a:pt x="2744355" y="2006"/>
                  </a:lnTo>
                  <a:lnTo>
                    <a:pt x="2748280" y="3200"/>
                  </a:lnTo>
                  <a:lnTo>
                    <a:pt x="2752090" y="4775"/>
                  </a:lnTo>
                  <a:lnTo>
                    <a:pt x="2755900" y="6350"/>
                  </a:lnTo>
                  <a:lnTo>
                    <a:pt x="2780245" y="27889"/>
                  </a:lnTo>
                  <a:lnTo>
                    <a:pt x="2782544" y="31305"/>
                  </a:lnTo>
                  <a:lnTo>
                    <a:pt x="2784475" y="34925"/>
                  </a:lnTo>
                  <a:lnTo>
                    <a:pt x="2786049" y="38735"/>
                  </a:lnTo>
                  <a:lnTo>
                    <a:pt x="2787624" y="42532"/>
                  </a:lnTo>
                  <a:lnTo>
                    <a:pt x="2788818" y="46456"/>
                  </a:lnTo>
                  <a:lnTo>
                    <a:pt x="2789618" y="50507"/>
                  </a:lnTo>
                  <a:lnTo>
                    <a:pt x="2790418" y="54546"/>
                  </a:lnTo>
                  <a:lnTo>
                    <a:pt x="2790825" y="58623"/>
                  </a:lnTo>
                  <a:lnTo>
                    <a:pt x="2790825" y="62738"/>
                  </a:lnTo>
                  <a:lnTo>
                    <a:pt x="2790825" y="3290049"/>
                  </a:lnTo>
                  <a:lnTo>
                    <a:pt x="2790825" y="3294176"/>
                  </a:lnTo>
                  <a:lnTo>
                    <a:pt x="2790418" y="3298253"/>
                  </a:lnTo>
                  <a:lnTo>
                    <a:pt x="2789618" y="3302292"/>
                  </a:lnTo>
                  <a:lnTo>
                    <a:pt x="2788818" y="3306330"/>
                  </a:lnTo>
                  <a:lnTo>
                    <a:pt x="2780245" y="3324910"/>
                  </a:lnTo>
                  <a:lnTo>
                    <a:pt x="2777959" y="3328339"/>
                  </a:lnTo>
                  <a:lnTo>
                    <a:pt x="2752090" y="3348024"/>
                  </a:lnTo>
                  <a:lnTo>
                    <a:pt x="2748280" y="3349599"/>
                  </a:lnTo>
                  <a:lnTo>
                    <a:pt x="2744355" y="3350793"/>
                  </a:lnTo>
                  <a:lnTo>
                    <a:pt x="2740317" y="3351593"/>
                  </a:lnTo>
                  <a:lnTo>
                    <a:pt x="2736278" y="3352393"/>
                  </a:lnTo>
                  <a:lnTo>
                    <a:pt x="2732201" y="3352800"/>
                  </a:lnTo>
                  <a:lnTo>
                    <a:pt x="2728074" y="3352800"/>
                  </a:lnTo>
                  <a:lnTo>
                    <a:pt x="62750" y="3352800"/>
                  </a:lnTo>
                  <a:lnTo>
                    <a:pt x="58623" y="3352800"/>
                  </a:lnTo>
                  <a:lnTo>
                    <a:pt x="54546" y="3352393"/>
                  </a:lnTo>
                  <a:lnTo>
                    <a:pt x="50507" y="3351593"/>
                  </a:lnTo>
                  <a:lnTo>
                    <a:pt x="46469" y="3350793"/>
                  </a:lnTo>
                  <a:lnTo>
                    <a:pt x="42545" y="3349599"/>
                  </a:lnTo>
                  <a:lnTo>
                    <a:pt x="38735" y="3348024"/>
                  </a:lnTo>
                  <a:lnTo>
                    <a:pt x="34925" y="3346450"/>
                  </a:lnTo>
                  <a:lnTo>
                    <a:pt x="31318" y="3344506"/>
                  </a:lnTo>
                  <a:lnTo>
                    <a:pt x="27889" y="3342220"/>
                  </a:lnTo>
                  <a:lnTo>
                    <a:pt x="24460" y="3339934"/>
                  </a:lnTo>
                  <a:lnTo>
                    <a:pt x="2006" y="3306330"/>
                  </a:lnTo>
                  <a:lnTo>
                    <a:pt x="0" y="3294176"/>
                  </a:lnTo>
                  <a:lnTo>
                    <a:pt x="0" y="3290049"/>
                  </a:lnTo>
                  <a:close/>
                </a:path>
              </a:pathLst>
            </a:custGeom>
            <a:ln w="952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53400" y="2095500"/>
              <a:ext cx="581025" cy="581025"/>
            </a:xfrm>
            <a:custGeom>
              <a:avLst/>
              <a:gdLst/>
              <a:ahLst/>
              <a:cxnLst/>
              <a:rect l="l" t="t" r="r" b="b"/>
              <a:pathLst>
                <a:path w="581025" h="581025">
                  <a:moveTo>
                    <a:pt x="290512" y="0"/>
                  </a:moveTo>
                  <a:lnTo>
                    <a:pt x="247883" y="3140"/>
                  </a:lnTo>
                  <a:lnTo>
                    <a:pt x="206184" y="12509"/>
                  </a:lnTo>
                  <a:lnTo>
                    <a:pt x="166300" y="27892"/>
                  </a:lnTo>
                  <a:lnTo>
                    <a:pt x="129108" y="48958"/>
                  </a:lnTo>
                  <a:lnTo>
                    <a:pt x="95416" y="75257"/>
                  </a:lnTo>
                  <a:lnTo>
                    <a:pt x="65951" y="106210"/>
                  </a:lnTo>
                  <a:lnTo>
                    <a:pt x="41330" y="141157"/>
                  </a:lnTo>
                  <a:lnTo>
                    <a:pt x="22110" y="179336"/>
                  </a:lnTo>
                  <a:lnTo>
                    <a:pt x="8709" y="219927"/>
                  </a:lnTo>
                  <a:lnTo>
                    <a:pt x="1397" y="262039"/>
                  </a:lnTo>
                  <a:lnTo>
                    <a:pt x="0" y="290512"/>
                  </a:lnTo>
                  <a:lnTo>
                    <a:pt x="87" y="297643"/>
                  </a:lnTo>
                  <a:lnTo>
                    <a:pt x="4272" y="340179"/>
                  </a:lnTo>
                  <a:lnTo>
                    <a:pt x="14661" y="381641"/>
                  </a:lnTo>
                  <a:lnTo>
                    <a:pt x="31018" y="421124"/>
                  </a:lnTo>
                  <a:lnTo>
                    <a:pt x="52992" y="457793"/>
                  </a:lnTo>
                  <a:lnTo>
                    <a:pt x="80108" y="490829"/>
                  </a:lnTo>
                  <a:lnTo>
                    <a:pt x="111777" y="519541"/>
                  </a:lnTo>
                  <a:lnTo>
                    <a:pt x="147317" y="543283"/>
                  </a:lnTo>
                  <a:lnTo>
                    <a:pt x="185958" y="561562"/>
                  </a:lnTo>
                  <a:lnTo>
                    <a:pt x="226854" y="573962"/>
                  </a:lnTo>
                  <a:lnTo>
                    <a:pt x="269147" y="580237"/>
                  </a:lnTo>
                  <a:lnTo>
                    <a:pt x="290512" y="581025"/>
                  </a:lnTo>
                  <a:lnTo>
                    <a:pt x="297642" y="580937"/>
                  </a:lnTo>
                  <a:lnTo>
                    <a:pt x="340179" y="576741"/>
                  </a:lnTo>
                  <a:lnTo>
                    <a:pt x="381641" y="566359"/>
                  </a:lnTo>
                  <a:lnTo>
                    <a:pt x="421124" y="550006"/>
                  </a:lnTo>
                  <a:lnTo>
                    <a:pt x="457796" y="528032"/>
                  </a:lnTo>
                  <a:lnTo>
                    <a:pt x="490829" y="500916"/>
                  </a:lnTo>
                  <a:lnTo>
                    <a:pt x="519541" y="469245"/>
                  </a:lnTo>
                  <a:lnTo>
                    <a:pt x="543283" y="433707"/>
                  </a:lnTo>
                  <a:lnTo>
                    <a:pt x="561559" y="395066"/>
                  </a:lnTo>
                  <a:lnTo>
                    <a:pt x="573966" y="354164"/>
                  </a:lnTo>
                  <a:lnTo>
                    <a:pt x="580237" y="311883"/>
                  </a:lnTo>
                  <a:lnTo>
                    <a:pt x="581025" y="290512"/>
                  </a:lnTo>
                  <a:lnTo>
                    <a:pt x="580937" y="283381"/>
                  </a:lnTo>
                  <a:lnTo>
                    <a:pt x="576752" y="240845"/>
                  </a:lnTo>
                  <a:lnTo>
                    <a:pt x="566363" y="199383"/>
                  </a:lnTo>
                  <a:lnTo>
                    <a:pt x="550006" y="159900"/>
                  </a:lnTo>
                  <a:lnTo>
                    <a:pt x="528032" y="123226"/>
                  </a:lnTo>
                  <a:lnTo>
                    <a:pt x="500916" y="90195"/>
                  </a:lnTo>
                  <a:lnTo>
                    <a:pt x="469242" y="61483"/>
                  </a:lnTo>
                  <a:lnTo>
                    <a:pt x="433707" y="37741"/>
                  </a:lnTo>
                  <a:lnTo>
                    <a:pt x="395066" y="19467"/>
                  </a:lnTo>
                  <a:lnTo>
                    <a:pt x="354164" y="7062"/>
                  </a:lnTo>
                  <a:lnTo>
                    <a:pt x="311877" y="787"/>
                  </a:lnTo>
                  <a:lnTo>
                    <a:pt x="290512" y="0"/>
                  </a:lnTo>
                  <a:close/>
                </a:path>
              </a:pathLst>
            </a:custGeom>
            <a:solidFill>
              <a:srgbClr val="A85B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54200" y="2251660"/>
              <a:ext cx="182547" cy="27182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577883" y="1087672"/>
            <a:ext cx="1430655" cy="549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sz="1650" spc="135" dirty="0">
                <a:solidFill>
                  <a:srgbClr val="DAD8E9"/>
                </a:solidFill>
                <a:latin typeface="Trebuchet MS"/>
                <a:cs typeface="Trebuchet MS"/>
              </a:rPr>
              <a:t>Auto</a:t>
            </a:r>
            <a:r>
              <a:rPr sz="1650" spc="12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55" dirty="0">
                <a:solidFill>
                  <a:srgbClr val="DAD8E9"/>
                </a:solidFill>
                <a:latin typeface="Trebuchet MS"/>
                <a:cs typeface="Trebuchet MS"/>
              </a:rPr>
              <a:t>Re</a:t>
            </a:r>
            <a:r>
              <a:rPr sz="1650" cap="small" spc="55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55" dirty="0">
                <a:solidFill>
                  <a:srgbClr val="DAD8E9"/>
                </a:solidFill>
                <a:latin typeface="Trebuchet MS"/>
                <a:cs typeface="Trebuchet MS"/>
              </a:rPr>
              <a:t>tock Intelligence</a:t>
            </a:r>
            <a:endParaRPr sz="1650" dirty="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57784" y="2340629"/>
            <a:ext cx="2338070" cy="1577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135"/>
              </a:spcBef>
            </a:pP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Triggers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orders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automatically </a:t>
            </a: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based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on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dynamic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thresholds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considering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seasonality,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trends,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supplier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lead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times</a:t>
            </a:r>
            <a:endParaRPr sz="1500" dirty="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648609" y="860628"/>
            <a:ext cx="4363091" cy="3331901"/>
            <a:chOff x="4858018" y="5494443"/>
            <a:chExt cx="5781674" cy="2162175"/>
          </a:xfrm>
        </p:grpSpPr>
        <p:sp>
          <p:nvSpPr>
            <p:cNvPr id="20" name="object 20"/>
            <p:cNvSpPr/>
            <p:nvPr/>
          </p:nvSpPr>
          <p:spPr>
            <a:xfrm>
              <a:off x="4858018" y="5494443"/>
              <a:ext cx="5781674" cy="2162175"/>
            </a:xfrm>
            <a:custGeom>
              <a:avLst/>
              <a:gdLst/>
              <a:ahLst/>
              <a:cxnLst/>
              <a:rect l="l" t="t" r="r" b="b"/>
              <a:pathLst>
                <a:path w="5781675" h="2162175">
                  <a:moveTo>
                    <a:pt x="5723051" y="0"/>
                  </a:moveTo>
                  <a:lnTo>
                    <a:pt x="58623" y="0"/>
                  </a:lnTo>
                  <a:lnTo>
                    <a:pt x="54546" y="393"/>
                  </a:lnTo>
                  <a:lnTo>
                    <a:pt x="15468" y="21285"/>
                  </a:lnTo>
                  <a:lnTo>
                    <a:pt x="0" y="58623"/>
                  </a:lnTo>
                  <a:lnTo>
                    <a:pt x="0" y="2099426"/>
                  </a:lnTo>
                  <a:lnTo>
                    <a:pt x="0" y="2103549"/>
                  </a:lnTo>
                  <a:lnTo>
                    <a:pt x="15468" y="2140880"/>
                  </a:lnTo>
                  <a:lnTo>
                    <a:pt x="54546" y="2161771"/>
                  </a:lnTo>
                  <a:lnTo>
                    <a:pt x="58623" y="2162172"/>
                  </a:lnTo>
                  <a:lnTo>
                    <a:pt x="5723051" y="2162172"/>
                  </a:lnTo>
                  <a:lnTo>
                    <a:pt x="5760377" y="2146710"/>
                  </a:lnTo>
                  <a:lnTo>
                    <a:pt x="5781268" y="2107627"/>
                  </a:lnTo>
                  <a:lnTo>
                    <a:pt x="5781675" y="2103549"/>
                  </a:lnTo>
                  <a:lnTo>
                    <a:pt x="5781675" y="58623"/>
                  </a:lnTo>
                  <a:lnTo>
                    <a:pt x="5766206" y="21285"/>
                  </a:lnTo>
                  <a:lnTo>
                    <a:pt x="5727128" y="393"/>
                  </a:lnTo>
                  <a:lnTo>
                    <a:pt x="5723051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 lang="en-IN" dirty="0"/>
            </a:p>
            <a:p>
              <a:endParaRPr lang="en-IN" dirty="0"/>
            </a:p>
            <a:p>
              <a:r>
                <a:rPr lang="en-IN" dirty="0"/>
                <a:t>	</a:t>
              </a:r>
              <a:r>
                <a:rPr lang="en-IN" sz="1800" dirty="0">
                  <a:solidFill>
                    <a:srgbClr val="DAD8E9"/>
                  </a:solidFill>
                  <a:latin typeface="Trebuchet MS"/>
                  <a:cs typeface="Trebuchet MS"/>
                </a:rPr>
                <a:t>Real-</a:t>
              </a:r>
              <a:r>
                <a:rPr lang="en-IN" sz="1800" spc="50" dirty="0">
                  <a:solidFill>
                    <a:srgbClr val="DAD8E9"/>
                  </a:solidFill>
                  <a:latin typeface="Trebuchet MS"/>
                  <a:cs typeface="Trebuchet MS"/>
                </a:rPr>
                <a:t>Time</a:t>
              </a:r>
              <a:r>
                <a:rPr lang="en-IN" sz="1800" spc="360" dirty="0">
                  <a:solidFill>
                    <a:srgbClr val="DAD8E9"/>
                  </a:solidFill>
                  <a:latin typeface="Trebuchet MS"/>
                  <a:cs typeface="Trebuchet MS"/>
                </a:rPr>
                <a:t> </a:t>
              </a:r>
              <a:r>
                <a:rPr lang="en-IN" sz="1800" spc="60" dirty="0">
                  <a:solidFill>
                    <a:srgbClr val="DAD8E9"/>
                  </a:solidFill>
                  <a:latin typeface="Trebuchet MS"/>
                  <a:cs typeface="Trebuchet MS"/>
                </a:rPr>
                <a:t>Tracking</a:t>
              </a:r>
              <a:endParaRPr lang="en-IN" sz="1800" dirty="0">
                <a:latin typeface="Trebuchet MS"/>
                <a:cs typeface="Trebuchet MS"/>
              </a:endParaRPr>
            </a:p>
            <a:p>
              <a:endParaRPr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5162550" y="5657850"/>
              <a:ext cx="581025" cy="581025"/>
            </a:xfrm>
            <a:custGeom>
              <a:avLst/>
              <a:gdLst/>
              <a:ahLst/>
              <a:cxnLst/>
              <a:rect l="l" t="t" r="r" b="b"/>
              <a:pathLst>
                <a:path w="581025" h="581025">
                  <a:moveTo>
                    <a:pt x="290512" y="0"/>
                  </a:moveTo>
                  <a:lnTo>
                    <a:pt x="247889" y="3149"/>
                  </a:lnTo>
                  <a:lnTo>
                    <a:pt x="206184" y="12509"/>
                  </a:lnTo>
                  <a:lnTo>
                    <a:pt x="166300" y="27892"/>
                  </a:lnTo>
                  <a:lnTo>
                    <a:pt x="129108" y="48958"/>
                  </a:lnTo>
                  <a:lnTo>
                    <a:pt x="95416" y="75257"/>
                  </a:lnTo>
                  <a:lnTo>
                    <a:pt x="65938" y="106210"/>
                  </a:lnTo>
                  <a:lnTo>
                    <a:pt x="41330" y="141157"/>
                  </a:lnTo>
                  <a:lnTo>
                    <a:pt x="22110" y="179336"/>
                  </a:lnTo>
                  <a:lnTo>
                    <a:pt x="8709" y="219927"/>
                  </a:lnTo>
                  <a:lnTo>
                    <a:pt x="1397" y="262039"/>
                  </a:lnTo>
                  <a:lnTo>
                    <a:pt x="0" y="290512"/>
                  </a:lnTo>
                  <a:lnTo>
                    <a:pt x="87" y="297643"/>
                  </a:lnTo>
                  <a:lnTo>
                    <a:pt x="4272" y="340179"/>
                  </a:lnTo>
                  <a:lnTo>
                    <a:pt x="14661" y="381641"/>
                  </a:lnTo>
                  <a:lnTo>
                    <a:pt x="31018" y="421124"/>
                  </a:lnTo>
                  <a:lnTo>
                    <a:pt x="52992" y="457787"/>
                  </a:lnTo>
                  <a:lnTo>
                    <a:pt x="80108" y="490829"/>
                  </a:lnTo>
                  <a:lnTo>
                    <a:pt x="111777" y="519541"/>
                  </a:lnTo>
                  <a:lnTo>
                    <a:pt x="147317" y="543283"/>
                  </a:lnTo>
                  <a:lnTo>
                    <a:pt x="185958" y="561557"/>
                  </a:lnTo>
                  <a:lnTo>
                    <a:pt x="226860" y="573960"/>
                  </a:lnTo>
                  <a:lnTo>
                    <a:pt x="269147" y="580237"/>
                  </a:lnTo>
                  <a:lnTo>
                    <a:pt x="290512" y="581025"/>
                  </a:lnTo>
                  <a:lnTo>
                    <a:pt x="297642" y="580937"/>
                  </a:lnTo>
                  <a:lnTo>
                    <a:pt x="340179" y="576741"/>
                  </a:lnTo>
                  <a:lnTo>
                    <a:pt x="381641" y="566358"/>
                  </a:lnTo>
                  <a:lnTo>
                    <a:pt x="421124" y="550006"/>
                  </a:lnTo>
                  <a:lnTo>
                    <a:pt x="457798" y="528032"/>
                  </a:lnTo>
                  <a:lnTo>
                    <a:pt x="490829" y="500916"/>
                  </a:lnTo>
                  <a:lnTo>
                    <a:pt x="519536" y="469245"/>
                  </a:lnTo>
                  <a:lnTo>
                    <a:pt x="543283" y="433707"/>
                  </a:lnTo>
                  <a:lnTo>
                    <a:pt x="561559" y="395066"/>
                  </a:lnTo>
                  <a:lnTo>
                    <a:pt x="573966" y="354164"/>
                  </a:lnTo>
                  <a:lnTo>
                    <a:pt x="580237" y="311883"/>
                  </a:lnTo>
                  <a:lnTo>
                    <a:pt x="581025" y="290512"/>
                  </a:lnTo>
                  <a:lnTo>
                    <a:pt x="580937" y="283381"/>
                  </a:lnTo>
                  <a:lnTo>
                    <a:pt x="576752" y="240845"/>
                  </a:lnTo>
                  <a:lnTo>
                    <a:pt x="566363" y="199383"/>
                  </a:lnTo>
                  <a:lnTo>
                    <a:pt x="550006" y="159900"/>
                  </a:lnTo>
                  <a:lnTo>
                    <a:pt x="528032" y="123226"/>
                  </a:lnTo>
                  <a:lnTo>
                    <a:pt x="500916" y="90195"/>
                  </a:lnTo>
                  <a:lnTo>
                    <a:pt x="469247" y="61483"/>
                  </a:lnTo>
                  <a:lnTo>
                    <a:pt x="433707" y="37741"/>
                  </a:lnTo>
                  <a:lnTo>
                    <a:pt x="395066" y="19467"/>
                  </a:lnTo>
                  <a:lnTo>
                    <a:pt x="354170" y="7062"/>
                  </a:lnTo>
                  <a:lnTo>
                    <a:pt x="311877" y="787"/>
                  </a:lnTo>
                  <a:lnTo>
                    <a:pt x="290512" y="0"/>
                  </a:lnTo>
                  <a:close/>
                </a:path>
              </a:pathLst>
            </a:custGeom>
            <a:solidFill>
              <a:srgbClr val="A85B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24475" y="5833554"/>
              <a:ext cx="260350" cy="233045"/>
            </a:xfrm>
            <a:custGeom>
              <a:avLst/>
              <a:gdLst/>
              <a:ahLst/>
              <a:cxnLst/>
              <a:rect l="l" t="t" r="r" b="b"/>
              <a:pathLst>
                <a:path w="260350" h="233045">
                  <a:moveTo>
                    <a:pt x="167525" y="231914"/>
                  </a:moveTo>
                  <a:lnTo>
                    <a:pt x="154483" y="198732"/>
                  </a:lnTo>
                  <a:lnTo>
                    <a:pt x="153098" y="187185"/>
                  </a:lnTo>
                </a:path>
                <a:path w="260350" h="233045">
                  <a:moveTo>
                    <a:pt x="107111" y="187223"/>
                  </a:moveTo>
                  <a:lnTo>
                    <a:pt x="100711" y="220891"/>
                  </a:lnTo>
                  <a:lnTo>
                    <a:pt x="92570" y="232270"/>
                  </a:lnTo>
                </a:path>
                <a:path w="260350" h="233045">
                  <a:moveTo>
                    <a:pt x="241122" y="187223"/>
                  </a:moveTo>
                  <a:lnTo>
                    <a:pt x="260286" y="169481"/>
                  </a:lnTo>
                  <a:lnTo>
                    <a:pt x="260299" y="162318"/>
                  </a:lnTo>
                </a:path>
                <a:path w="260350" h="233045">
                  <a:moveTo>
                    <a:pt x="260299" y="19278"/>
                  </a:moveTo>
                  <a:lnTo>
                    <a:pt x="240652" y="25"/>
                  </a:lnTo>
                  <a:lnTo>
                    <a:pt x="235927" y="0"/>
                  </a:lnTo>
                </a:path>
                <a:path w="260350" h="233045">
                  <a:moveTo>
                    <a:pt x="18542" y="0"/>
                  </a:moveTo>
                  <a:lnTo>
                    <a:pt x="38" y="19202"/>
                  </a:lnTo>
                  <a:lnTo>
                    <a:pt x="0" y="23952"/>
                  </a:lnTo>
                </a:path>
                <a:path w="260350" h="233045">
                  <a:moveTo>
                    <a:pt x="109728" y="187286"/>
                  </a:moveTo>
                  <a:lnTo>
                    <a:pt x="241122" y="187223"/>
                  </a:lnTo>
                </a:path>
                <a:path w="260350" h="233045">
                  <a:moveTo>
                    <a:pt x="167894" y="232473"/>
                  </a:moveTo>
                  <a:lnTo>
                    <a:pt x="73152" y="232740"/>
                  </a:lnTo>
                </a:path>
                <a:path w="260350" h="233045">
                  <a:moveTo>
                    <a:pt x="260299" y="159334"/>
                  </a:moveTo>
                  <a:lnTo>
                    <a:pt x="12" y="159372"/>
                  </a:lnTo>
                </a:path>
                <a:path w="260350" h="233045">
                  <a:moveTo>
                    <a:pt x="167525" y="231914"/>
                  </a:moveTo>
                  <a:lnTo>
                    <a:pt x="187261" y="232727"/>
                  </a:lnTo>
                </a:path>
              </a:pathLst>
            </a:custGeom>
            <a:ln w="115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8507" y="5827790"/>
              <a:ext cx="272031" cy="19898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396142" y="2338431"/>
            <a:ext cx="3079878" cy="9328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495"/>
              </a:spcBef>
            </a:pP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Provides</a:t>
            </a:r>
            <a:r>
              <a:rPr sz="1500" spc="-8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complete</a:t>
            </a:r>
            <a:r>
              <a:rPr sz="1500" spc="-8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visibility</a:t>
            </a: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across</a:t>
            </a:r>
            <a:r>
              <a:rPr sz="1500" spc="-8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all</a:t>
            </a: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 warehouses,</a:t>
            </a:r>
            <a:r>
              <a:rPr sz="1500" spc="-8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sales</a:t>
            </a: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channels,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114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distribution</a:t>
            </a:r>
            <a:r>
              <a:rPr sz="1500" spc="-114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points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4C1C31-7B64-6F48-22C9-D450B9CE08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19" y="4384107"/>
            <a:ext cx="10221729" cy="378271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CBC174B-DA9E-7ABA-ABAB-155B2F85BB3F}"/>
              </a:ext>
            </a:extLst>
          </p:cNvPr>
          <p:cNvSpPr txBox="1"/>
          <p:nvPr/>
        </p:nvSpPr>
        <p:spPr>
          <a:xfrm>
            <a:off x="1828800" y="101150"/>
            <a:ext cx="8288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spc="155" dirty="0" err="1">
                <a:solidFill>
                  <a:schemeClr val="bg1"/>
                </a:solidFill>
              </a:rPr>
              <a:t>SmartShelfX</a:t>
            </a:r>
            <a:r>
              <a:rPr lang="en-IN" sz="3600" spc="155" dirty="0">
                <a:solidFill>
                  <a:schemeClr val="bg1"/>
                </a:solidFill>
              </a:rPr>
              <a:t> </a:t>
            </a:r>
            <a:r>
              <a:rPr lang="en-IN" sz="3600" spc="250" dirty="0">
                <a:solidFill>
                  <a:schemeClr val="bg1"/>
                </a:solidFill>
              </a:rPr>
              <a:t>- </a:t>
            </a:r>
            <a:r>
              <a:rPr lang="en-IN" sz="3600" spc="135" dirty="0">
                <a:solidFill>
                  <a:schemeClr val="bg1"/>
                </a:solidFill>
              </a:rPr>
              <a:t>Solution </a:t>
            </a:r>
            <a:r>
              <a:rPr lang="en-IN" sz="3600" spc="180" dirty="0">
                <a:solidFill>
                  <a:schemeClr val="bg1"/>
                </a:solidFill>
              </a:rPr>
              <a:t>Overview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201025"/>
          </a:xfrm>
          <a:custGeom>
            <a:avLst/>
            <a:gdLst/>
            <a:ahLst/>
            <a:cxnLst/>
            <a:rect l="l" t="t" r="r" b="b"/>
            <a:pathLst>
              <a:path w="11430000" h="8201025">
                <a:moveTo>
                  <a:pt x="11430000" y="0"/>
                </a:moveTo>
                <a:lnTo>
                  <a:pt x="0" y="0"/>
                </a:lnTo>
                <a:lnTo>
                  <a:pt x="0" y="8201025"/>
                </a:lnTo>
                <a:lnTo>
                  <a:pt x="11430000" y="82010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A0C2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5" dirty="0"/>
              <a:t>Tech</a:t>
            </a:r>
            <a:r>
              <a:rPr spc="245" dirty="0"/>
              <a:t> </a:t>
            </a:r>
            <a:r>
              <a:rPr dirty="0"/>
              <a:t>Stack:</a:t>
            </a:r>
            <a:r>
              <a:rPr spc="245" dirty="0"/>
              <a:t> </a:t>
            </a:r>
            <a:r>
              <a:rPr spc="270" dirty="0"/>
              <a:t>Modern</a:t>
            </a:r>
            <a:r>
              <a:rPr spc="245" dirty="0"/>
              <a:t> </a:t>
            </a:r>
            <a:r>
              <a:rPr spc="254" dirty="0"/>
              <a:t>&amp;</a:t>
            </a:r>
            <a:r>
              <a:rPr spc="250" dirty="0"/>
              <a:t> </a:t>
            </a:r>
            <a:r>
              <a:rPr spc="120" dirty="0"/>
              <a:t>Scalable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76275" y="1457325"/>
            <a:ext cx="10077450" cy="2019300"/>
            <a:chOff x="676275" y="1457325"/>
            <a:chExt cx="10077450" cy="2019300"/>
          </a:xfrm>
        </p:grpSpPr>
        <p:sp>
          <p:nvSpPr>
            <p:cNvPr id="5" name="object 5"/>
            <p:cNvSpPr/>
            <p:nvPr/>
          </p:nvSpPr>
          <p:spPr>
            <a:xfrm>
              <a:off x="690562" y="1471612"/>
              <a:ext cx="10048875" cy="1990725"/>
            </a:xfrm>
            <a:custGeom>
              <a:avLst/>
              <a:gdLst/>
              <a:ahLst/>
              <a:cxnLst/>
              <a:rect l="l" t="t" r="r" b="b"/>
              <a:pathLst>
                <a:path w="10048875" h="1990725">
                  <a:moveTo>
                    <a:pt x="9999141" y="0"/>
                  </a:moveTo>
                  <a:lnTo>
                    <a:pt x="49728" y="0"/>
                  </a:lnTo>
                  <a:lnTo>
                    <a:pt x="46266" y="342"/>
                  </a:lnTo>
                  <a:lnTo>
                    <a:pt x="10909" y="20751"/>
                  </a:lnTo>
                  <a:lnTo>
                    <a:pt x="0" y="49733"/>
                  </a:lnTo>
                  <a:lnTo>
                    <a:pt x="0" y="1937499"/>
                  </a:lnTo>
                  <a:lnTo>
                    <a:pt x="0" y="1941004"/>
                  </a:lnTo>
                  <a:lnTo>
                    <a:pt x="18058" y="1977605"/>
                  </a:lnTo>
                  <a:lnTo>
                    <a:pt x="49728" y="1990725"/>
                  </a:lnTo>
                  <a:lnTo>
                    <a:pt x="9999141" y="1990725"/>
                  </a:lnTo>
                  <a:lnTo>
                    <a:pt x="10035756" y="1972665"/>
                  </a:lnTo>
                  <a:lnTo>
                    <a:pt x="10048875" y="1941004"/>
                  </a:lnTo>
                  <a:lnTo>
                    <a:pt x="10048875" y="49733"/>
                  </a:lnTo>
                  <a:lnTo>
                    <a:pt x="10030815" y="13119"/>
                  </a:lnTo>
                  <a:lnTo>
                    <a:pt x="10002609" y="342"/>
                  </a:lnTo>
                  <a:lnTo>
                    <a:pt x="9999141" y="0"/>
                  </a:lnTo>
                  <a:close/>
                </a:path>
              </a:pathLst>
            </a:custGeom>
            <a:solidFill>
              <a:srgbClr val="0A0C2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0562" y="1471612"/>
              <a:ext cx="10048875" cy="1990725"/>
            </a:xfrm>
            <a:custGeom>
              <a:avLst/>
              <a:gdLst/>
              <a:ahLst/>
              <a:cxnLst/>
              <a:rect l="l" t="t" r="r" b="b"/>
              <a:pathLst>
                <a:path w="10048875" h="1990725">
                  <a:moveTo>
                    <a:pt x="0" y="1937499"/>
                  </a:moveTo>
                  <a:lnTo>
                    <a:pt x="0" y="53225"/>
                  </a:lnTo>
                  <a:lnTo>
                    <a:pt x="0" y="49733"/>
                  </a:lnTo>
                  <a:lnTo>
                    <a:pt x="342" y="46266"/>
                  </a:lnTo>
                  <a:lnTo>
                    <a:pt x="1022" y="42837"/>
                  </a:lnTo>
                  <a:lnTo>
                    <a:pt x="1706" y="39408"/>
                  </a:lnTo>
                  <a:lnTo>
                    <a:pt x="2713" y="36080"/>
                  </a:lnTo>
                  <a:lnTo>
                    <a:pt x="4052" y="32854"/>
                  </a:lnTo>
                  <a:lnTo>
                    <a:pt x="5387" y="29629"/>
                  </a:lnTo>
                  <a:lnTo>
                    <a:pt x="23653" y="8966"/>
                  </a:lnTo>
                  <a:lnTo>
                    <a:pt x="26560" y="7023"/>
                  </a:lnTo>
                  <a:lnTo>
                    <a:pt x="29626" y="5384"/>
                  </a:lnTo>
                  <a:lnTo>
                    <a:pt x="32856" y="4051"/>
                  </a:lnTo>
                  <a:lnTo>
                    <a:pt x="36080" y="2717"/>
                  </a:lnTo>
                  <a:lnTo>
                    <a:pt x="39409" y="1701"/>
                  </a:lnTo>
                  <a:lnTo>
                    <a:pt x="42837" y="1016"/>
                  </a:lnTo>
                  <a:lnTo>
                    <a:pt x="46266" y="342"/>
                  </a:lnTo>
                  <a:lnTo>
                    <a:pt x="49728" y="0"/>
                  </a:lnTo>
                  <a:lnTo>
                    <a:pt x="53220" y="0"/>
                  </a:lnTo>
                  <a:lnTo>
                    <a:pt x="9995649" y="0"/>
                  </a:lnTo>
                  <a:lnTo>
                    <a:pt x="9999141" y="0"/>
                  </a:lnTo>
                  <a:lnTo>
                    <a:pt x="10002609" y="342"/>
                  </a:lnTo>
                  <a:lnTo>
                    <a:pt x="10006038" y="1016"/>
                  </a:lnTo>
                  <a:lnTo>
                    <a:pt x="10009454" y="1701"/>
                  </a:lnTo>
                  <a:lnTo>
                    <a:pt x="10012794" y="2717"/>
                  </a:lnTo>
                  <a:lnTo>
                    <a:pt x="10016020" y="4051"/>
                  </a:lnTo>
                  <a:lnTo>
                    <a:pt x="10019246" y="5384"/>
                  </a:lnTo>
                  <a:lnTo>
                    <a:pt x="10044823" y="32854"/>
                  </a:lnTo>
                  <a:lnTo>
                    <a:pt x="10046157" y="36080"/>
                  </a:lnTo>
                  <a:lnTo>
                    <a:pt x="10047173" y="39408"/>
                  </a:lnTo>
                  <a:lnTo>
                    <a:pt x="10047859" y="42837"/>
                  </a:lnTo>
                  <a:lnTo>
                    <a:pt x="10048532" y="46266"/>
                  </a:lnTo>
                  <a:lnTo>
                    <a:pt x="10048875" y="49733"/>
                  </a:lnTo>
                  <a:lnTo>
                    <a:pt x="10048875" y="53225"/>
                  </a:lnTo>
                  <a:lnTo>
                    <a:pt x="10048875" y="1937499"/>
                  </a:lnTo>
                  <a:lnTo>
                    <a:pt x="10048875" y="1941004"/>
                  </a:lnTo>
                  <a:lnTo>
                    <a:pt x="10048532" y="1944458"/>
                  </a:lnTo>
                  <a:lnTo>
                    <a:pt x="10047859" y="1947887"/>
                  </a:lnTo>
                  <a:lnTo>
                    <a:pt x="10047173" y="1951316"/>
                  </a:lnTo>
                  <a:lnTo>
                    <a:pt x="10046157" y="1954644"/>
                  </a:lnTo>
                  <a:lnTo>
                    <a:pt x="10044823" y="1957870"/>
                  </a:lnTo>
                  <a:lnTo>
                    <a:pt x="10043490" y="1961095"/>
                  </a:lnTo>
                  <a:lnTo>
                    <a:pt x="10016020" y="1986673"/>
                  </a:lnTo>
                  <a:lnTo>
                    <a:pt x="10012794" y="1988007"/>
                  </a:lnTo>
                  <a:lnTo>
                    <a:pt x="10009454" y="1989023"/>
                  </a:lnTo>
                  <a:lnTo>
                    <a:pt x="10006038" y="1989696"/>
                  </a:lnTo>
                  <a:lnTo>
                    <a:pt x="10002609" y="1990382"/>
                  </a:lnTo>
                  <a:lnTo>
                    <a:pt x="9999141" y="1990725"/>
                  </a:lnTo>
                  <a:lnTo>
                    <a:pt x="9995649" y="1990725"/>
                  </a:lnTo>
                  <a:lnTo>
                    <a:pt x="53220" y="1990725"/>
                  </a:lnTo>
                  <a:lnTo>
                    <a:pt x="49728" y="1990725"/>
                  </a:lnTo>
                  <a:lnTo>
                    <a:pt x="46266" y="1990382"/>
                  </a:lnTo>
                  <a:lnTo>
                    <a:pt x="42837" y="1989696"/>
                  </a:lnTo>
                  <a:lnTo>
                    <a:pt x="39409" y="1989023"/>
                  </a:lnTo>
                  <a:lnTo>
                    <a:pt x="36080" y="1988007"/>
                  </a:lnTo>
                  <a:lnTo>
                    <a:pt x="32856" y="1986673"/>
                  </a:lnTo>
                  <a:lnTo>
                    <a:pt x="29626" y="1985340"/>
                  </a:lnTo>
                  <a:lnTo>
                    <a:pt x="8970" y="1967064"/>
                  </a:lnTo>
                  <a:lnTo>
                    <a:pt x="7029" y="1964169"/>
                  </a:lnTo>
                  <a:lnTo>
                    <a:pt x="5387" y="1961095"/>
                  </a:lnTo>
                  <a:lnTo>
                    <a:pt x="4052" y="1957870"/>
                  </a:lnTo>
                  <a:lnTo>
                    <a:pt x="2713" y="1954644"/>
                  </a:lnTo>
                  <a:lnTo>
                    <a:pt x="1706" y="1951316"/>
                  </a:lnTo>
                  <a:lnTo>
                    <a:pt x="1022" y="1947887"/>
                  </a:lnTo>
                  <a:lnTo>
                    <a:pt x="342" y="1944458"/>
                  </a:lnTo>
                  <a:lnTo>
                    <a:pt x="0" y="1941004"/>
                  </a:lnTo>
                  <a:lnTo>
                    <a:pt x="0" y="1937499"/>
                  </a:lnTo>
                  <a:close/>
                </a:path>
              </a:pathLst>
            </a:custGeom>
            <a:ln w="2857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4850" y="1485900"/>
              <a:ext cx="10020300" cy="567055"/>
            </a:xfrm>
            <a:custGeom>
              <a:avLst/>
              <a:gdLst/>
              <a:ahLst/>
              <a:cxnLst/>
              <a:rect l="l" t="t" r="r" b="b"/>
              <a:pathLst>
                <a:path w="10020300" h="567055">
                  <a:moveTo>
                    <a:pt x="9986530" y="0"/>
                  </a:moveTo>
                  <a:lnTo>
                    <a:pt x="33769" y="0"/>
                  </a:lnTo>
                  <a:lnTo>
                    <a:pt x="28803" y="990"/>
                  </a:lnTo>
                  <a:lnTo>
                    <a:pt x="986" y="28803"/>
                  </a:lnTo>
                  <a:lnTo>
                    <a:pt x="0" y="33769"/>
                  </a:lnTo>
                  <a:lnTo>
                    <a:pt x="0" y="566737"/>
                  </a:lnTo>
                  <a:lnTo>
                    <a:pt x="10020300" y="566737"/>
                  </a:lnTo>
                  <a:lnTo>
                    <a:pt x="10020300" y="33769"/>
                  </a:lnTo>
                  <a:lnTo>
                    <a:pt x="9991496" y="990"/>
                  </a:lnTo>
                  <a:lnTo>
                    <a:pt x="9986530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4850" y="2047875"/>
              <a:ext cx="10020300" cy="9525"/>
            </a:xfrm>
            <a:custGeom>
              <a:avLst/>
              <a:gdLst/>
              <a:ahLst/>
              <a:cxnLst/>
              <a:rect l="l" t="t" r="r" b="b"/>
              <a:pathLst>
                <a:path w="10020300" h="9525">
                  <a:moveTo>
                    <a:pt x="100203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0020300" y="9525"/>
                  </a:lnTo>
                  <a:lnTo>
                    <a:pt x="10020300" y="0"/>
                  </a:lnTo>
                  <a:close/>
                </a:path>
              </a:pathLst>
            </a:custGeom>
            <a:solidFill>
              <a:srgbClr val="6D44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5716" y="1618417"/>
              <a:ext cx="302135" cy="29098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83841" y="2239962"/>
            <a:ext cx="9566275" cy="9645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55" dirty="0">
                <a:solidFill>
                  <a:srgbClr val="DAD8E9"/>
                </a:solidFill>
                <a:latin typeface="Trebuchet MS"/>
                <a:cs typeface="Trebuchet MS"/>
              </a:rPr>
              <a:t>Frontend:</a:t>
            </a:r>
            <a:r>
              <a:rPr sz="1650" spc="13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AD8E9"/>
                </a:solidFill>
                <a:latin typeface="Trebuchet MS"/>
                <a:cs typeface="Trebuchet MS"/>
              </a:rPr>
              <a:t>React.j</a:t>
            </a:r>
            <a:r>
              <a:rPr sz="1650" cap="small" spc="-10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300"/>
              </a:lnSpc>
              <a:spcBef>
                <a:spcPts val="570"/>
              </a:spcBef>
            </a:pPr>
            <a:r>
              <a:rPr sz="1500" spc="-80" dirty="0">
                <a:solidFill>
                  <a:srgbClr val="DAD8E9"/>
                </a:solidFill>
                <a:latin typeface="Tahoma"/>
                <a:cs typeface="Tahoma"/>
              </a:rPr>
              <a:t>Responsive,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intuitive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user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interface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DAD8E9"/>
                </a:solidFill>
                <a:latin typeface="Tahoma"/>
                <a:cs typeface="Tahoma"/>
              </a:rPr>
              <a:t>built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with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React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Hooks,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Router,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modern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component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architecture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for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seamless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user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experience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6275" y="3667125"/>
            <a:ext cx="10077450" cy="1714500"/>
            <a:chOff x="676275" y="3667125"/>
            <a:chExt cx="10077450" cy="1714500"/>
          </a:xfrm>
        </p:grpSpPr>
        <p:sp>
          <p:nvSpPr>
            <p:cNvPr id="12" name="object 12"/>
            <p:cNvSpPr/>
            <p:nvPr/>
          </p:nvSpPr>
          <p:spPr>
            <a:xfrm>
              <a:off x="690562" y="3681412"/>
              <a:ext cx="10048875" cy="1685925"/>
            </a:xfrm>
            <a:custGeom>
              <a:avLst/>
              <a:gdLst/>
              <a:ahLst/>
              <a:cxnLst/>
              <a:rect l="l" t="t" r="r" b="b"/>
              <a:pathLst>
                <a:path w="10048875" h="1685925">
                  <a:moveTo>
                    <a:pt x="9999141" y="0"/>
                  </a:moveTo>
                  <a:lnTo>
                    <a:pt x="49728" y="0"/>
                  </a:lnTo>
                  <a:lnTo>
                    <a:pt x="46266" y="342"/>
                  </a:lnTo>
                  <a:lnTo>
                    <a:pt x="10909" y="20751"/>
                  </a:lnTo>
                  <a:lnTo>
                    <a:pt x="0" y="49733"/>
                  </a:lnTo>
                  <a:lnTo>
                    <a:pt x="0" y="1632699"/>
                  </a:lnTo>
                  <a:lnTo>
                    <a:pt x="0" y="1636191"/>
                  </a:lnTo>
                  <a:lnTo>
                    <a:pt x="18058" y="1672805"/>
                  </a:lnTo>
                  <a:lnTo>
                    <a:pt x="49728" y="1685925"/>
                  </a:lnTo>
                  <a:lnTo>
                    <a:pt x="9999141" y="1685925"/>
                  </a:lnTo>
                  <a:lnTo>
                    <a:pt x="10035756" y="1667865"/>
                  </a:lnTo>
                  <a:lnTo>
                    <a:pt x="10048875" y="1636191"/>
                  </a:lnTo>
                  <a:lnTo>
                    <a:pt x="10048875" y="49733"/>
                  </a:lnTo>
                  <a:lnTo>
                    <a:pt x="10030815" y="13119"/>
                  </a:lnTo>
                  <a:lnTo>
                    <a:pt x="10002609" y="342"/>
                  </a:lnTo>
                  <a:lnTo>
                    <a:pt x="9999141" y="0"/>
                  </a:lnTo>
                  <a:close/>
                </a:path>
              </a:pathLst>
            </a:custGeom>
            <a:solidFill>
              <a:srgbClr val="0A0C2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0562" y="3681412"/>
              <a:ext cx="10048875" cy="1685925"/>
            </a:xfrm>
            <a:custGeom>
              <a:avLst/>
              <a:gdLst/>
              <a:ahLst/>
              <a:cxnLst/>
              <a:rect l="l" t="t" r="r" b="b"/>
              <a:pathLst>
                <a:path w="10048875" h="1685925">
                  <a:moveTo>
                    <a:pt x="0" y="1632699"/>
                  </a:moveTo>
                  <a:lnTo>
                    <a:pt x="0" y="53225"/>
                  </a:lnTo>
                  <a:lnTo>
                    <a:pt x="0" y="49733"/>
                  </a:lnTo>
                  <a:lnTo>
                    <a:pt x="342" y="46266"/>
                  </a:lnTo>
                  <a:lnTo>
                    <a:pt x="1022" y="42837"/>
                  </a:lnTo>
                  <a:lnTo>
                    <a:pt x="1706" y="39408"/>
                  </a:lnTo>
                  <a:lnTo>
                    <a:pt x="2713" y="36080"/>
                  </a:lnTo>
                  <a:lnTo>
                    <a:pt x="4052" y="32854"/>
                  </a:lnTo>
                  <a:lnTo>
                    <a:pt x="5387" y="29629"/>
                  </a:lnTo>
                  <a:lnTo>
                    <a:pt x="23653" y="8966"/>
                  </a:lnTo>
                  <a:lnTo>
                    <a:pt x="26560" y="7023"/>
                  </a:lnTo>
                  <a:lnTo>
                    <a:pt x="29626" y="5384"/>
                  </a:lnTo>
                  <a:lnTo>
                    <a:pt x="32856" y="4051"/>
                  </a:lnTo>
                  <a:lnTo>
                    <a:pt x="36080" y="2717"/>
                  </a:lnTo>
                  <a:lnTo>
                    <a:pt x="39409" y="1701"/>
                  </a:lnTo>
                  <a:lnTo>
                    <a:pt x="42837" y="1016"/>
                  </a:lnTo>
                  <a:lnTo>
                    <a:pt x="46266" y="342"/>
                  </a:lnTo>
                  <a:lnTo>
                    <a:pt x="49728" y="0"/>
                  </a:lnTo>
                  <a:lnTo>
                    <a:pt x="53220" y="0"/>
                  </a:lnTo>
                  <a:lnTo>
                    <a:pt x="9995649" y="0"/>
                  </a:lnTo>
                  <a:lnTo>
                    <a:pt x="9999141" y="0"/>
                  </a:lnTo>
                  <a:lnTo>
                    <a:pt x="10002609" y="342"/>
                  </a:lnTo>
                  <a:lnTo>
                    <a:pt x="10006038" y="1016"/>
                  </a:lnTo>
                  <a:lnTo>
                    <a:pt x="10009454" y="1701"/>
                  </a:lnTo>
                  <a:lnTo>
                    <a:pt x="10012794" y="2717"/>
                  </a:lnTo>
                  <a:lnTo>
                    <a:pt x="10016020" y="4051"/>
                  </a:lnTo>
                  <a:lnTo>
                    <a:pt x="10019246" y="5384"/>
                  </a:lnTo>
                  <a:lnTo>
                    <a:pt x="10044823" y="32854"/>
                  </a:lnTo>
                  <a:lnTo>
                    <a:pt x="10046157" y="36080"/>
                  </a:lnTo>
                  <a:lnTo>
                    <a:pt x="10047173" y="39408"/>
                  </a:lnTo>
                  <a:lnTo>
                    <a:pt x="10047859" y="42837"/>
                  </a:lnTo>
                  <a:lnTo>
                    <a:pt x="10048532" y="46266"/>
                  </a:lnTo>
                  <a:lnTo>
                    <a:pt x="10048875" y="49733"/>
                  </a:lnTo>
                  <a:lnTo>
                    <a:pt x="10048875" y="53225"/>
                  </a:lnTo>
                  <a:lnTo>
                    <a:pt x="10048875" y="1632699"/>
                  </a:lnTo>
                  <a:lnTo>
                    <a:pt x="10048875" y="1636191"/>
                  </a:lnTo>
                  <a:lnTo>
                    <a:pt x="10048532" y="1639658"/>
                  </a:lnTo>
                  <a:lnTo>
                    <a:pt x="10047859" y="1643087"/>
                  </a:lnTo>
                  <a:lnTo>
                    <a:pt x="10047173" y="1646516"/>
                  </a:lnTo>
                  <a:lnTo>
                    <a:pt x="10046157" y="1649844"/>
                  </a:lnTo>
                  <a:lnTo>
                    <a:pt x="10044823" y="1653070"/>
                  </a:lnTo>
                  <a:lnTo>
                    <a:pt x="10043490" y="1656295"/>
                  </a:lnTo>
                  <a:lnTo>
                    <a:pt x="10016020" y="1681873"/>
                  </a:lnTo>
                  <a:lnTo>
                    <a:pt x="10012794" y="1683207"/>
                  </a:lnTo>
                  <a:lnTo>
                    <a:pt x="10009454" y="1684223"/>
                  </a:lnTo>
                  <a:lnTo>
                    <a:pt x="10006038" y="1684896"/>
                  </a:lnTo>
                  <a:lnTo>
                    <a:pt x="10002609" y="1685582"/>
                  </a:lnTo>
                  <a:lnTo>
                    <a:pt x="9999141" y="1685925"/>
                  </a:lnTo>
                  <a:lnTo>
                    <a:pt x="9995649" y="1685925"/>
                  </a:lnTo>
                  <a:lnTo>
                    <a:pt x="53220" y="1685925"/>
                  </a:lnTo>
                  <a:lnTo>
                    <a:pt x="49728" y="1685925"/>
                  </a:lnTo>
                  <a:lnTo>
                    <a:pt x="46266" y="1685582"/>
                  </a:lnTo>
                  <a:lnTo>
                    <a:pt x="42837" y="1684896"/>
                  </a:lnTo>
                  <a:lnTo>
                    <a:pt x="39409" y="1684223"/>
                  </a:lnTo>
                  <a:lnTo>
                    <a:pt x="36080" y="1683207"/>
                  </a:lnTo>
                  <a:lnTo>
                    <a:pt x="32856" y="1681873"/>
                  </a:lnTo>
                  <a:lnTo>
                    <a:pt x="29626" y="1680540"/>
                  </a:lnTo>
                  <a:lnTo>
                    <a:pt x="8970" y="1662264"/>
                  </a:lnTo>
                  <a:lnTo>
                    <a:pt x="7029" y="1659369"/>
                  </a:lnTo>
                  <a:lnTo>
                    <a:pt x="5387" y="1656295"/>
                  </a:lnTo>
                  <a:lnTo>
                    <a:pt x="4052" y="1653070"/>
                  </a:lnTo>
                  <a:lnTo>
                    <a:pt x="2713" y="1649844"/>
                  </a:lnTo>
                  <a:lnTo>
                    <a:pt x="1706" y="1646516"/>
                  </a:lnTo>
                  <a:lnTo>
                    <a:pt x="1022" y="1643087"/>
                  </a:lnTo>
                  <a:lnTo>
                    <a:pt x="342" y="1639658"/>
                  </a:lnTo>
                  <a:lnTo>
                    <a:pt x="0" y="1636191"/>
                  </a:lnTo>
                  <a:lnTo>
                    <a:pt x="0" y="1632699"/>
                  </a:lnTo>
                  <a:close/>
                </a:path>
              </a:pathLst>
            </a:custGeom>
            <a:ln w="2857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4850" y="3695700"/>
              <a:ext cx="10020300" cy="576580"/>
            </a:xfrm>
            <a:custGeom>
              <a:avLst/>
              <a:gdLst/>
              <a:ahLst/>
              <a:cxnLst/>
              <a:rect l="l" t="t" r="r" b="b"/>
              <a:pathLst>
                <a:path w="10020300" h="576579">
                  <a:moveTo>
                    <a:pt x="9986530" y="0"/>
                  </a:moveTo>
                  <a:lnTo>
                    <a:pt x="33769" y="0"/>
                  </a:lnTo>
                  <a:lnTo>
                    <a:pt x="28803" y="990"/>
                  </a:lnTo>
                  <a:lnTo>
                    <a:pt x="986" y="28803"/>
                  </a:lnTo>
                  <a:lnTo>
                    <a:pt x="0" y="33769"/>
                  </a:lnTo>
                  <a:lnTo>
                    <a:pt x="0" y="576262"/>
                  </a:lnTo>
                  <a:lnTo>
                    <a:pt x="10020300" y="576262"/>
                  </a:lnTo>
                  <a:lnTo>
                    <a:pt x="10020300" y="33769"/>
                  </a:lnTo>
                  <a:lnTo>
                    <a:pt x="9991496" y="990"/>
                  </a:lnTo>
                  <a:lnTo>
                    <a:pt x="9986530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4850" y="4267200"/>
              <a:ext cx="10020300" cy="9525"/>
            </a:xfrm>
            <a:custGeom>
              <a:avLst/>
              <a:gdLst/>
              <a:ahLst/>
              <a:cxnLst/>
              <a:rect l="l" t="t" r="r" b="b"/>
              <a:pathLst>
                <a:path w="10020300" h="9525">
                  <a:moveTo>
                    <a:pt x="100203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0020300" y="9525"/>
                  </a:lnTo>
                  <a:lnTo>
                    <a:pt x="10020300" y="0"/>
                  </a:lnTo>
                  <a:close/>
                </a:path>
              </a:pathLst>
            </a:custGeom>
            <a:solidFill>
              <a:srgbClr val="6D44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6447" y="3838575"/>
              <a:ext cx="160685" cy="28931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83841" y="4449762"/>
            <a:ext cx="8327390" cy="6597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85" dirty="0">
                <a:solidFill>
                  <a:srgbClr val="DAD8E9"/>
                </a:solidFill>
                <a:latin typeface="Trebuchet MS"/>
                <a:cs typeface="Trebuchet MS"/>
              </a:rPr>
              <a:t>Backend:</a:t>
            </a:r>
            <a:r>
              <a:rPr sz="1650" spc="15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AD8E9"/>
                </a:solidFill>
                <a:latin typeface="Trebuchet MS"/>
                <a:cs typeface="Trebuchet MS"/>
              </a:rPr>
              <a:t>Java</a:t>
            </a:r>
            <a:r>
              <a:rPr sz="1650" spc="15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125" dirty="0">
                <a:solidFill>
                  <a:srgbClr val="DAD8E9"/>
                </a:solidFill>
                <a:latin typeface="Trebuchet MS"/>
                <a:cs typeface="Trebuchet MS"/>
              </a:rPr>
              <a:t>Spring</a:t>
            </a:r>
            <a:r>
              <a:rPr sz="1650" spc="15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100" dirty="0">
                <a:solidFill>
                  <a:srgbClr val="DAD8E9"/>
                </a:solidFill>
                <a:latin typeface="Trebuchet MS"/>
                <a:cs typeface="Trebuchet MS"/>
              </a:rPr>
              <a:t>Boot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Robust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20" dirty="0">
                <a:solidFill>
                  <a:srgbClr val="DAD8E9"/>
                </a:solidFill>
                <a:latin typeface="Tahoma"/>
                <a:cs typeface="Tahoma"/>
              </a:rPr>
              <a:t>REST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API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delivering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secure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business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logic,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efficient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data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processing,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enterprise-</a:t>
            </a: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grade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reliability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76275" y="5572125"/>
            <a:ext cx="10077450" cy="2095500"/>
            <a:chOff x="676275" y="5572125"/>
            <a:chExt cx="10077450" cy="2095500"/>
          </a:xfrm>
        </p:grpSpPr>
        <p:sp>
          <p:nvSpPr>
            <p:cNvPr id="19" name="object 19"/>
            <p:cNvSpPr/>
            <p:nvPr/>
          </p:nvSpPr>
          <p:spPr>
            <a:xfrm>
              <a:off x="690562" y="5586412"/>
              <a:ext cx="10048875" cy="2066925"/>
            </a:xfrm>
            <a:custGeom>
              <a:avLst/>
              <a:gdLst/>
              <a:ahLst/>
              <a:cxnLst/>
              <a:rect l="l" t="t" r="r" b="b"/>
              <a:pathLst>
                <a:path w="10048875" h="2066925">
                  <a:moveTo>
                    <a:pt x="9999141" y="0"/>
                  </a:moveTo>
                  <a:lnTo>
                    <a:pt x="49728" y="0"/>
                  </a:lnTo>
                  <a:lnTo>
                    <a:pt x="46266" y="342"/>
                  </a:lnTo>
                  <a:lnTo>
                    <a:pt x="10909" y="20751"/>
                  </a:lnTo>
                  <a:lnTo>
                    <a:pt x="0" y="49733"/>
                  </a:lnTo>
                  <a:lnTo>
                    <a:pt x="0" y="2013703"/>
                  </a:lnTo>
                  <a:lnTo>
                    <a:pt x="0" y="2017195"/>
                  </a:lnTo>
                  <a:lnTo>
                    <a:pt x="18058" y="2053807"/>
                  </a:lnTo>
                  <a:lnTo>
                    <a:pt x="49728" y="2066923"/>
                  </a:lnTo>
                  <a:lnTo>
                    <a:pt x="9999141" y="2066923"/>
                  </a:lnTo>
                  <a:lnTo>
                    <a:pt x="10035756" y="2048865"/>
                  </a:lnTo>
                  <a:lnTo>
                    <a:pt x="10048875" y="2017195"/>
                  </a:lnTo>
                  <a:lnTo>
                    <a:pt x="10048875" y="49733"/>
                  </a:lnTo>
                  <a:lnTo>
                    <a:pt x="10030815" y="13119"/>
                  </a:lnTo>
                  <a:lnTo>
                    <a:pt x="10002609" y="342"/>
                  </a:lnTo>
                  <a:lnTo>
                    <a:pt x="9999141" y="0"/>
                  </a:lnTo>
                  <a:close/>
                </a:path>
              </a:pathLst>
            </a:custGeom>
            <a:solidFill>
              <a:srgbClr val="0A0C2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0562" y="5586412"/>
              <a:ext cx="10048875" cy="2066925"/>
            </a:xfrm>
            <a:custGeom>
              <a:avLst/>
              <a:gdLst/>
              <a:ahLst/>
              <a:cxnLst/>
              <a:rect l="l" t="t" r="r" b="b"/>
              <a:pathLst>
                <a:path w="10048875" h="2066925">
                  <a:moveTo>
                    <a:pt x="0" y="2013703"/>
                  </a:moveTo>
                  <a:lnTo>
                    <a:pt x="0" y="53225"/>
                  </a:lnTo>
                  <a:lnTo>
                    <a:pt x="0" y="49733"/>
                  </a:lnTo>
                  <a:lnTo>
                    <a:pt x="342" y="46266"/>
                  </a:lnTo>
                  <a:lnTo>
                    <a:pt x="1022" y="42837"/>
                  </a:lnTo>
                  <a:lnTo>
                    <a:pt x="1706" y="39408"/>
                  </a:lnTo>
                  <a:lnTo>
                    <a:pt x="2713" y="36080"/>
                  </a:lnTo>
                  <a:lnTo>
                    <a:pt x="4052" y="32854"/>
                  </a:lnTo>
                  <a:lnTo>
                    <a:pt x="5387" y="29629"/>
                  </a:lnTo>
                  <a:lnTo>
                    <a:pt x="23653" y="8966"/>
                  </a:lnTo>
                  <a:lnTo>
                    <a:pt x="26560" y="7023"/>
                  </a:lnTo>
                  <a:lnTo>
                    <a:pt x="29626" y="5384"/>
                  </a:lnTo>
                  <a:lnTo>
                    <a:pt x="32856" y="4051"/>
                  </a:lnTo>
                  <a:lnTo>
                    <a:pt x="36080" y="2717"/>
                  </a:lnTo>
                  <a:lnTo>
                    <a:pt x="39409" y="1701"/>
                  </a:lnTo>
                  <a:lnTo>
                    <a:pt x="42837" y="1016"/>
                  </a:lnTo>
                  <a:lnTo>
                    <a:pt x="46266" y="342"/>
                  </a:lnTo>
                  <a:lnTo>
                    <a:pt x="49728" y="0"/>
                  </a:lnTo>
                  <a:lnTo>
                    <a:pt x="53220" y="0"/>
                  </a:lnTo>
                  <a:lnTo>
                    <a:pt x="9995649" y="0"/>
                  </a:lnTo>
                  <a:lnTo>
                    <a:pt x="9999141" y="0"/>
                  </a:lnTo>
                  <a:lnTo>
                    <a:pt x="10002609" y="342"/>
                  </a:lnTo>
                  <a:lnTo>
                    <a:pt x="10006038" y="1016"/>
                  </a:lnTo>
                  <a:lnTo>
                    <a:pt x="10009454" y="1701"/>
                  </a:lnTo>
                  <a:lnTo>
                    <a:pt x="10012794" y="2717"/>
                  </a:lnTo>
                  <a:lnTo>
                    <a:pt x="10016020" y="4051"/>
                  </a:lnTo>
                  <a:lnTo>
                    <a:pt x="10019246" y="5384"/>
                  </a:lnTo>
                  <a:lnTo>
                    <a:pt x="10044823" y="32854"/>
                  </a:lnTo>
                  <a:lnTo>
                    <a:pt x="10046157" y="36080"/>
                  </a:lnTo>
                  <a:lnTo>
                    <a:pt x="10047173" y="39408"/>
                  </a:lnTo>
                  <a:lnTo>
                    <a:pt x="10047859" y="42837"/>
                  </a:lnTo>
                  <a:lnTo>
                    <a:pt x="10048532" y="46266"/>
                  </a:lnTo>
                  <a:lnTo>
                    <a:pt x="10048875" y="49733"/>
                  </a:lnTo>
                  <a:lnTo>
                    <a:pt x="10048875" y="53225"/>
                  </a:lnTo>
                  <a:lnTo>
                    <a:pt x="10048875" y="2013703"/>
                  </a:lnTo>
                  <a:lnTo>
                    <a:pt x="10048875" y="2017195"/>
                  </a:lnTo>
                  <a:lnTo>
                    <a:pt x="10048532" y="2020658"/>
                  </a:lnTo>
                  <a:lnTo>
                    <a:pt x="10047859" y="2024086"/>
                  </a:lnTo>
                  <a:lnTo>
                    <a:pt x="10047173" y="2027514"/>
                  </a:lnTo>
                  <a:lnTo>
                    <a:pt x="10046157" y="2030837"/>
                  </a:lnTo>
                  <a:lnTo>
                    <a:pt x="10044823" y="2034067"/>
                  </a:lnTo>
                  <a:lnTo>
                    <a:pt x="10043490" y="2037297"/>
                  </a:lnTo>
                  <a:lnTo>
                    <a:pt x="10016020" y="2062871"/>
                  </a:lnTo>
                  <a:lnTo>
                    <a:pt x="10012794" y="2064209"/>
                  </a:lnTo>
                  <a:lnTo>
                    <a:pt x="10009454" y="2065216"/>
                  </a:lnTo>
                  <a:lnTo>
                    <a:pt x="10006038" y="2065902"/>
                  </a:lnTo>
                  <a:lnTo>
                    <a:pt x="10002609" y="2066582"/>
                  </a:lnTo>
                  <a:lnTo>
                    <a:pt x="9999141" y="2066923"/>
                  </a:lnTo>
                  <a:lnTo>
                    <a:pt x="9995649" y="2066923"/>
                  </a:lnTo>
                  <a:lnTo>
                    <a:pt x="53220" y="2066923"/>
                  </a:lnTo>
                  <a:lnTo>
                    <a:pt x="49728" y="2066923"/>
                  </a:lnTo>
                  <a:lnTo>
                    <a:pt x="46266" y="2066582"/>
                  </a:lnTo>
                  <a:lnTo>
                    <a:pt x="42837" y="2065902"/>
                  </a:lnTo>
                  <a:lnTo>
                    <a:pt x="39409" y="2065216"/>
                  </a:lnTo>
                  <a:lnTo>
                    <a:pt x="36080" y="2064209"/>
                  </a:lnTo>
                  <a:lnTo>
                    <a:pt x="32856" y="2062871"/>
                  </a:lnTo>
                  <a:lnTo>
                    <a:pt x="29626" y="2061536"/>
                  </a:lnTo>
                  <a:lnTo>
                    <a:pt x="8970" y="2043270"/>
                  </a:lnTo>
                  <a:lnTo>
                    <a:pt x="7029" y="2040362"/>
                  </a:lnTo>
                  <a:lnTo>
                    <a:pt x="5387" y="2037297"/>
                  </a:lnTo>
                  <a:lnTo>
                    <a:pt x="4052" y="2034067"/>
                  </a:lnTo>
                  <a:lnTo>
                    <a:pt x="2713" y="2030837"/>
                  </a:lnTo>
                  <a:lnTo>
                    <a:pt x="1706" y="2027514"/>
                  </a:lnTo>
                  <a:lnTo>
                    <a:pt x="1022" y="2024086"/>
                  </a:lnTo>
                  <a:lnTo>
                    <a:pt x="342" y="2020658"/>
                  </a:lnTo>
                  <a:lnTo>
                    <a:pt x="0" y="2017195"/>
                  </a:lnTo>
                  <a:lnTo>
                    <a:pt x="0" y="2013703"/>
                  </a:lnTo>
                  <a:close/>
                </a:path>
              </a:pathLst>
            </a:custGeom>
            <a:ln w="2857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4850" y="5600700"/>
              <a:ext cx="10020300" cy="576580"/>
            </a:xfrm>
            <a:custGeom>
              <a:avLst/>
              <a:gdLst/>
              <a:ahLst/>
              <a:cxnLst/>
              <a:rect l="l" t="t" r="r" b="b"/>
              <a:pathLst>
                <a:path w="10020300" h="576579">
                  <a:moveTo>
                    <a:pt x="9986530" y="0"/>
                  </a:moveTo>
                  <a:lnTo>
                    <a:pt x="33769" y="0"/>
                  </a:lnTo>
                  <a:lnTo>
                    <a:pt x="28803" y="990"/>
                  </a:lnTo>
                  <a:lnTo>
                    <a:pt x="986" y="28803"/>
                  </a:lnTo>
                  <a:lnTo>
                    <a:pt x="0" y="33769"/>
                  </a:lnTo>
                  <a:lnTo>
                    <a:pt x="0" y="576262"/>
                  </a:lnTo>
                  <a:lnTo>
                    <a:pt x="10020300" y="576262"/>
                  </a:lnTo>
                  <a:lnTo>
                    <a:pt x="10020300" y="33769"/>
                  </a:lnTo>
                  <a:lnTo>
                    <a:pt x="9991496" y="990"/>
                  </a:lnTo>
                  <a:lnTo>
                    <a:pt x="9986530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4850" y="6172200"/>
              <a:ext cx="10020300" cy="9525"/>
            </a:xfrm>
            <a:custGeom>
              <a:avLst/>
              <a:gdLst/>
              <a:ahLst/>
              <a:cxnLst/>
              <a:rect l="l" t="t" r="r" b="b"/>
              <a:pathLst>
                <a:path w="10020300" h="9525">
                  <a:moveTo>
                    <a:pt x="100203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0020300" y="9525"/>
                  </a:lnTo>
                  <a:lnTo>
                    <a:pt x="10020300" y="0"/>
                  </a:lnTo>
                  <a:close/>
                </a:path>
              </a:pathLst>
            </a:custGeom>
            <a:solidFill>
              <a:srgbClr val="6D44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35244" y="5861177"/>
              <a:ext cx="205740" cy="170815"/>
            </a:xfrm>
            <a:custGeom>
              <a:avLst/>
              <a:gdLst/>
              <a:ahLst/>
              <a:cxnLst/>
              <a:rect l="l" t="t" r="r" b="b"/>
              <a:pathLst>
                <a:path w="205739" h="170814">
                  <a:moveTo>
                    <a:pt x="204266" y="70904"/>
                  </a:moveTo>
                  <a:lnTo>
                    <a:pt x="163590" y="91738"/>
                  </a:lnTo>
                  <a:lnTo>
                    <a:pt x="125016" y="99719"/>
                  </a:lnTo>
                  <a:lnTo>
                    <a:pt x="118541" y="100533"/>
                  </a:lnTo>
                </a:path>
                <a:path w="205739" h="170814">
                  <a:moveTo>
                    <a:pt x="204597" y="0"/>
                  </a:moveTo>
                  <a:lnTo>
                    <a:pt x="168948" y="20510"/>
                  </a:lnTo>
                  <a:lnTo>
                    <a:pt x="122432" y="30021"/>
                  </a:lnTo>
                  <a:lnTo>
                    <a:pt x="101130" y="32029"/>
                  </a:lnTo>
                  <a:lnTo>
                    <a:pt x="93992" y="32321"/>
                  </a:lnTo>
                </a:path>
                <a:path w="205739" h="170814">
                  <a:moveTo>
                    <a:pt x="66916" y="32258"/>
                  </a:moveTo>
                  <a:lnTo>
                    <a:pt x="52526" y="31086"/>
                  </a:lnTo>
                  <a:lnTo>
                    <a:pt x="39131" y="29665"/>
                  </a:lnTo>
                  <a:lnTo>
                    <a:pt x="26504" y="27966"/>
                  </a:lnTo>
                  <a:lnTo>
                    <a:pt x="14414" y="25958"/>
                  </a:lnTo>
                  <a:lnTo>
                    <a:pt x="0" y="22250"/>
                  </a:lnTo>
                </a:path>
                <a:path w="205739" h="170814">
                  <a:moveTo>
                    <a:pt x="205333" y="122897"/>
                  </a:moveTo>
                  <a:lnTo>
                    <a:pt x="176403" y="156400"/>
                  </a:lnTo>
                  <a:lnTo>
                    <a:pt x="136359" y="167241"/>
                  </a:lnTo>
                  <a:lnTo>
                    <a:pt x="120637" y="169646"/>
                  </a:lnTo>
                  <a:lnTo>
                    <a:pt x="111074" y="170548"/>
                  </a:lnTo>
                </a:path>
              </a:pathLst>
            </a:custGeom>
            <a:ln w="12820">
              <a:solidFill>
                <a:srgbClr val="DAD8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86669" y="5959618"/>
              <a:ext cx="89642" cy="7658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592991" y="5743584"/>
              <a:ext cx="247650" cy="289560"/>
            </a:xfrm>
            <a:custGeom>
              <a:avLst/>
              <a:gdLst/>
              <a:ahLst/>
              <a:cxnLst/>
              <a:rect l="l" t="t" r="r" b="b"/>
              <a:pathLst>
                <a:path w="247650" h="289560">
                  <a:moveTo>
                    <a:pt x="114" y="61179"/>
                  </a:moveTo>
                  <a:lnTo>
                    <a:pt x="292" y="50193"/>
                  </a:lnTo>
                  <a:lnTo>
                    <a:pt x="0" y="40236"/>
                  </a:lnTo>
                  <a:lnTo>
                    <a:pt x="520" y="35931"/>
                  </a:lnTo>
                  <a:lnTo>
                    <a:pt x="37236" y="10099"/>
                  </a:lnTo>
                  <a:lnTo>
                    <a:pt x="80732" y="2120"/>
                  </a:lnTo>
                  <a:lnTo>
                    <a:pt x="127171" y="0"/>
                  </a:lnTo>
                  <a:lnTo>
                    <a:pt x="138343" y="182"/>
                  </a:lnTo>
                  <a:lnTo>
                    <a:pt x="183401" y="4320"/>
                  </a:lnTo>
                  <a:lnTo>
                    <a:pt x="222808" y="14658"/>
                  </a:lnTo>
                  <a:lnTo>
                    <a:pt x="247419" y="46637"/>
                  </a:lnTo>
                  <a:lnTo>
                    <a:pt x="247516" y="55848"/>
                  </a:lnTo>
                  <a:lnTo>
                    <a:pt x="247561" y="67859"/>
                  </a:lnTo>
                </a:path>
                <a:path w="247650" h="289560">
                  <a:moveTo>
                    <a:pt x="247561" y="187747"/>
                  </a:moveTo>
                  <a:lnTo>
                    <a:pt x="247586" y="240490"/>
                  </a:lnTo>
                </a:path>
                <a:path w="247650" h="289560">
                  <a:moveTo>
                    <a:pt x="247548" y="117046"/>
                  </a:moveTo>
                  <a:lnTo>
                    <a:pt x="246519" y="188496"/>
                  </a:lnTo>
                </a:path>
                <a:path w="247650" h="289560">
                  <a:moveTo>
                    <a:pt x="247548" y="49253"/>
                  </a:moveTo>
                  <a:lnTo>
                    <a:pt x="235549" y="57878"/>
                  </a:lnTo>
                  <a:lnTo>
                    <a:pt x="222753" y="64743"/>
                  </a:lnTo>
                  <a:lnTo>
                    <a:pt x="209159" y="69847"/>
                  </a:lnTo>
                  <a:lnTo>
                    <a:pt x="194767" y="73193"/>
                  </a:lnTo>
                </a:path>
                <a:path w="247650" h="289560">
                  <a:moveTo>
                    <a:pt x="160794" y="218125"/>
                  </a:moveTo>
                  <a:lnTo>
                    <a:pt x="134505" y="219638"/>
                  </a:lnTo>
                  <a:lnTo>
                    <a:pt x="108216" y="219521"/>
                  </a:lnTo>
                  <a:lnTo>
                    <a:pt x="81927" y="217477"/>
                  </a:lnTo>
                  <a:lnTo>
                    <a:pt x="55638" y="213210"/>
                  </a:lnTo>
                </a:path>
                <a:path w="247650" h="289560">
                  <a:moveTo>
                    <a:pt x="55689" y="212893"/>
                  </a:moveTo>
                  <a:lnTo>
                    <a:pt x="40356" y="209504"/>
                  </a:lnTo>
                  <a:lnTo>
                    <a:pt x="25963" y="204081"/>
                  </a:lnTo>
                  <a:lnTo>
                    <a:pt x="12510" y="196621"/>
                  </a:lnTo>
                  <a:lnTo>
                    <a:pt x="0" y="187124"/>
                  </a:lnTo>
                </a:path>
                <a:path w="247650" h="289560">
                  <a:moveTo>
                    <a:pt x="153327" y="288140"/>
                  </a:moveTo>
                  <a:lnTo>
                    <a:pt x="134221" y="289148"/>
                  </a:lnTo>
                  <a:lnTo>
                    <a:pt x="115128" y="289228"/>
                  </a:lnTo>
                  <a:lnTo>
                    <a:pt x="96030" y="288281"/>
                  </a:lnTo>
                  <a:lnTo>
                    <a:pt x="76911" y="286210"/>
                  </a:lnTo>
                </a:path>
                <a:path w="247650" h="289560">
                  <a:moveTo>
                    <a:pt x="88" y="222443"/>
                  </a:moveTo>
                  <a:lnTo>
                    <a:pt x="114" y="61179"/>
                  </a:lnTo>
                </a:path>
                <a:path w="247650" h="289560">
                  <a:moveTo>
                    <a:pt x="136245" y="149913"/>
                  </a:moveTo>
                  <a:lnTo>
                    <a:pt x="109169" y="149850"/>
                  </a:lnTo>
                </a:path>
                <a:path w="247650" h="289560">
                  <a:moveTo>
                    <a:pt x="247561" y="67859"/>
                  </a:moveTo>
                  <a:lnTo>
                    <a:pt x="246849" y="117592"/>
                  </a:lnTo>
                </a:path>
                <a:path w="247650" h="289560">
                  <a:moveTo>
                    <a:pt x="42291" y="139703"/>
                  </a:moveTo>
                  <a:lnTo>
                    <a:pt x="30701" y="136040"/>
                  </a:lnTo>
                  <a:lnTo>
                    <a:pt x="19823" y="131054"/>
                  </a:lnTo>
                  <a:lnTo>
                    <a:pt x="9656" y="124744"/>
                  </a:lnTo>
                  <a:lnTo>
                    <a:pt x="203" y="117109"/>
                  </a:lnTo>
                </a:path>
                <a:path w="247650" h="289560">
                  <a:moveTo>
                    <a:pt x="194792" y="73421"/>
                  </a:moveTo>
                  <a:lnTo>
                    <a:pt x="160138" y="78912"/>
                  </a:lnTo>
                  <a:lnTo>
                    <a:pt x="125480" y="80967"/>
                  </a:lnTo>
                  <a:lnTo>
                    <a:pt x="90820" y="79481"/>
                  </a:lnTo>
                  <a:lnTo>
                    <a:pt x="56159" y="74348"/>
                  </a:lnTo>
                </a:path>
                <a:path w="247650" h="289560">
                  <a:moveTo>
                    <a:pt x="56197" y="74120"/>
                  </a:moveTo>
                  <a:lnTo>
                    <a:pt x="41084" y="70793"/>
                  </a:lnTo>
                  <a:lnTo>
                    <a:pt x="26703" y="65728"/>
                  </a:lnTo>
                  <a:lnTo>
                    <a:pt x="13058" y="58925"/>
                  </a:lnTo>
                  <a:lnTo>
                    <a:pt x="152" y="50384"/>
                  </a:lnTo>
                </a:path>
              </a:pathLst>
            </a:custGeom>
            <a:ln w="12820">
              <a:solidFill>
                <a:srgbClr val="DAD8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83841" y="6354762"/>
            <a:ext cx="9606280" cy="1092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30" dirty="0">
                <a:solidFill>
                  <a:srgbClr val="DAD8E9"/>
                </a:solidFill>
                <a:latin typeface="Tahoma"/>
                <a:cs typeface="Tahoma"/>
              </a:rPr>
              <a:t>Database:</a:t>
            </a:r>
            <a:r>
              <a:rPr sz="1650" b="1" spc="-1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DAD8E9"/>
                </a:solidFill>
                <a:latin typeface="Tahoma"/>
                <a:cs typeface="Tahoma"/>
              </a:rPr>
              <a:t>Relational </a:t>
            </a:r>
            <a:r>
              <a:rPr sz="1650" b="1" dirty="0">
                <a:solidFill>
                  <a:srgbClr val="DAD8E9"/>
                </a:solidFill>
                <a:latin typeface="Tahoma"/>
                <a:cs typeface="Tahoma"/>
              </a:rPr>
              <a:t>DB</a:t>
            </a:r>
            <a:r>
              <a:rPr sz="1650" b="1" spc="-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650" b="1" spc="50" dirty="0">
                <a:solidFill>
                  <a:srgbClr val="DAD8E9"/>
                </a:solidFill>
                <a:latin typeface="Tahoma"/>
                <a:cs typeface="Tahoma"/>
              </a:rPr>
              <a:t>3</a:t>
            </a:r>
            <a:r>
              <a:rPr sz="1650" b="1" spc="-10" dirty="0">
                <a:solidFill>
                  <a:srgbClr val="DAD8E9"/>
                </a:solidFill>
                <a:latin typeface="Tahoma"/>
                <a:cs typeface="Tahoma"/>
              </a:rPr>
              <a:t> PostgreSQL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spc="120" dirty="0">
                <a:solidFill>
                  <a:srgbClr val="DAD8E9"/>
                </a:solidFill>
                <a:latin typeface="Trebuchet MS"/>
                <a:cs typeface="Trebuchet MS"/>
              </a:rPr>
              <a:t>Po</a:t>
            </a:r>
            <a:r>
              <a:rPr sz="1650" cap="small" spc="120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120" dirty="0">
                <a:solidFill>
                  <a:srgbClr val="DAD8E9"/>
                </a:solidFill>
                <a:latin typeface="Trebuchet MS"/>
                <a:cs typeface="Trebuchet MS"/>
              </a:rPr>
              <a:t>tgreSQL</a:t>
            </a:r>
            <a:r>
              <a:rPr sz="1650" spc="14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90" dirty="0">
                <a:solidFill>
                  <a:srgbClr val="DAD8E9"/>
                </a:solidFill>
                <a:latin typeface="Trebuchet MS"/>
                <a:cs typeface="Trebuchet MS"/>
              </a:rPr>
              <a:t>i</a:t>
            </a:r>
            <a:r>
              <a:rPr sz="1650" cap="small" spc="90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15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160" dirty="0">
                <a:solidFill>
                  <a:srgbClr val="DAD8E9"/>
                </a:solidFill>
                <a:latin typeface="Trebuchet MS"/>
                <a:cs typeface="Trebuchet MS"/>
              </a:rPr>
              <a:t>u</a:t>
            </a:r>
            <a:r>
              <a:rPr sz="1650" cap="small" spc="160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160" dirty="0">
                <a:solidFill>
                  <a:srgbClr val="DAD8E9"/>
                </a:solidFill>
                <a:latin typeface="Trebuchet MS"/>
                <a:cs typeface="Trebuchet MS"/>
              </a:rPr>
              <a:t>ed</a:t>
            </a:r>
            <a:r>
              <a:rPr sz="1650" spc="15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145" dirty="0">
                <a:solidFill>
                  <a:srgbClr val="DAD8E9"/>
                </a:solidFill>
                <a:latin typeface="Trebuchet MS"/>
                <a:cs typeface="Trebuchet MS"/>
              </a:rPr>
              <a:t>a</a:t>
            </a:r>
            <a:r>
              <a:rPr sz="1650" cap="small" spc="145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15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80" dirty="0">
                <a:solidFill>
                  <a:srgbClr val="DAD8E9"/>
                </a:solidFill>
                <a:latin typeface="Trebuchet MS"/>
                <a:cs typeface="Trebuchet MS"/>
              </a:rPr>
              <a:t>the</a:t>
            </a:r>
            <a:r>
              <a:rPr sz="1650" spc="15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80" dirty="0">
                <a:solidFill>
                  <a:srgbClr val="DAD8E9"/>
                </a:solidFill>
                <a:latin typeface="Trebuchet MS"/>
                <a:cs typeface="Trebuchet MS"/>
              </a:rPr>
              <a:t>primary</a:t>
            </a:r>
            <a:r>
              <a:rPr sz="1650" spc="15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AD8E9"/>
                </a:solidFill>
                <a:latin typeface="Trebuchet MS"/>
                <a:cs typeface="Trebuchet MS"/>
              </a:rPr>
              <a:t>relational</a:t>
            </a:r>
            <a:r>
              <a:rPr sz="1650" spc="15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105" dirty="0">
                <a:solidFill>
                  <a:srgbClr val="DAD8E9"/>
                </a:solidFill>
                <a:latin typeface="Trebuchet MS"/>
                <a:cs typeface="Trebuchet MS"/>
              </a:rPr>
              <a:t>databa</a:t>
            </a:r>
            <a:r>
              <a:rPr sz="1650" cap="small" spc="105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105" dirty="0">
                <a:solidFill>
                  <a:srgbClr val="DAD8E9"/>
                </a:solidFill>
                <a:latin typeface="Trebuchet MS"/>
                <a:cs typeface="Trebuchet MS"/>
              </a:rPr>
              <a:t>e</a:t>
            </a:r>
            <a:r>
              <a:rPr sz="1650" spc="15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90" dirty="0">
                <a:solidFill>
                  <a:srgbClr val="DAD8E9"/>
                </a:solidFill>
                <a:latin typeface="Trebuchet MS"/>
                <a:cs typeface="Trebuchet MS"/>
              </a:rPr>
              <a:t>to</a:t>
            </a:r>
            <a:r>
              <a:rPr sz="1650" spc="15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cap="small" spc="95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95" dirty="0">
                <a:solidFill>
                  <a:srgbClr val="DAD8E9"/>
                </a:solidFill>
                <a:latin typeface="Trebuchet MS"/>
                <a:cs typeface="Trebuchet MS"/>
              </a:rPr>
              <a:t>tore</a:t>
            </a:r>
            <a:r>
              <a:rPr sz="1650" spc="15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AD8E9"/>
                </a:solidFill>
                <a:latin typeface="Trebuchet MS"/>
                <a:cs typeface="Trebuchet MS"/>
              </a:rPr>
              <a:t>all</a:t>
            </a:r>
            <a:r>
              <a:rPr sz="1650" spc="15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85" dirty="0">
                <a:solidFill>
                  <a:srgbClr val="DAD8E9"/>
                </a:solidFill>
                <a:latin typeface="Trebuchet MS"/>
                <a:cs typeface="Trebuchet MS"/>
              </a:rPr>
              <a:t>inventory</a:t>
            </a:r>
            <a:r>
              <a:rPr sz="1650" spc="15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114" dirty="0">
                <a:solidFill>
                  <a:srgbClr val="DAD8E9"/>
                </a:solidFill>
                <a:latin typeface="Trebuchet MS"/>
                <a:cs typeface="Trebuchet MS"/>
              </a:rPr>
              <a:t>and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06100"/>
              </a:lnSpc>
              <a:spcBef>
                <a:spcPts val="75"/>
              </a:spcBef>
            </a:pPr>
            <a:r>
              <a:rPr sz="1650" spc="65" dirty="0">
                <a:solidFill>
                  <a:srgbClr val="DAD8E9"/>
                </a:solidFill>
                <a:latin typeface="Trebuchet MS"/>
                <a:cs typeface="Trebuchet MS"/>
              </a:rPr>
              <a:t>tran</a:t>
            </a:r>
            <a:r>
              <a:rPr sz="1650" cap="small" spc="65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65" dirty="0">
                <a:solidFill>
                  <a:srgbClr val="DAD8E9"/>
                </a:solidFill>
                <a:latin typeface="Trebuchet MS"/>
                <a:cs typeface="Trebuchet MS"/>
              </a:rPr>
              <a:t>actional</a:t>
            </a:r>
            <a:r>
              <a:rPr sz="1650" spc="21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AD8E9"/>
                </a:solidFill>
                <a:latin typeface="Trebuchet MS"/>
                <a:cs typeface="Trebuchet MS"/>
              </a:rPr>
              <a:t>data,</a:t>
            </a:r>
            <a:r>
              <a:rPr sz="1650" spc="21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110" dirty="0">
                <a:solidFill>
                  <a:srgbClr val="DAD8E9"/>
                </a:solidFill>
                <a:latin typeface="Trebuchet MS"/>
                <a:cs typeface="Trebuchet MS"/>
              </a:rPr>
              <a:t>providing</a:t>
            </a:r>
            <a:r>
              <a:rPr sz="1650" spc="21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cap="small" spc="135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135" dirty="0">
                <a:solidFill>
                  <a:srgbClr val="DAD8E9"/>
                </a:solidFill>
                <a:latin typeface="Trebuchet MS"/>
                <a:cs typeface="Trebuchet MS"/>
              </a:rPr>
              <a:t>trong</a:t>
            </a:r>
            <a:r>
              <a:rPr sz="1650" spc="21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130" dirty="0">
                <a:solidFill>
                  <a:srgbClr val="DAD8E9"/>
                </a:solidFill>
                <a:latin typeface="Trebuchet MS"/>
                <a:cs typeface="Trebuchet MS"/>
              </a:rPr>
              <a:t>ACID</a:t>
            </a:r>
            <a:r>
              <a:rPr sz="1650" spc="21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70" dirty="0">
                <a:solidFill>
                  <a:srgbClr val="DAD8E9"/>
                </a:solidFill>
                <a:latin typeface="Trebuchet MS"/>
                <a:cs typeface="Trebuchet MS"/>
              </a:rPr>
              <a:t>compliance,</a:t>
            </a:r>
            <a:r>
              <a:rPr sz="1650" spc="21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cap="small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dirty="0">
                <a:solidFill>
                  <a:srgbClr val="DAD8E9"/>
                </a:solidFill>
                <a:latin typeface="Trebuchet MS"/>
                <a:cs typeface="Trebuchet MS"/>
              </a:rPr>
              <a:t>calability,</a:t>
            </a:r>
            <a:r>
              <a:rPr sz="1650" spc="21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140" dirty="0">
                <a:solidFill>
                  <a:srgbClr val="DAD8E9"/>
                </a:solidFill>
                <a:latin typeface="Trebuchet MS"/>
                <a:cs typeface="Trebuchet MS"/>
              </a:rPr>
              <a:t>and</a:t>
            </a:r>
            <a:r>
              <a:rPr sz="1650" spc="21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AD8E9"/>
                </a:solidFill>
                <a:latin typeface="Trebuchet MS"/>
                <a:cs typeface="Trebuchet MS"/>
              </a:rPr>
              <a:t>reliable</a:t>
            </a:r>
            <a:r>
              <a:rPr sz="1650" spc="21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70" dirty="0">
                <a:solidFill>
                  <a:srgbClr val="DAD8E9"/>
                </a:solidFill>
                <a:latin typeface="Trebuchet MS"/>
                <a:cs typeface="Trebuchet MS"/>
              </a:rPr>
              <a:t>performance </a:t>
            </a:r>
            <a:r>
              <a:rPr sz="1650" spc="60" dirty="0">
                <a:solidFill>
                  <a:srgbClr val="DAD8E9"/>
                </a:solidFill>
                <a:latin typeface="Trebuchet MS"/>
                <a:cs typeface="Trebuchet MS"/>
              </a:rPr>
              <a:t>for</a:t>
            </a:r>
            <a:r>
              <a:rPr sz="1650" spc="12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85" dirty="0">
                <a:solidFill>
                  <a:srgbClr val="DAD8E9"/>
                </a:solidFill>
                <a:latin typeface="Trebuchet MS"/>
                <a:cs typeface="Trebuchet MS"/>
              </a:rPr>
              <a:t>large-</a:t>
            </a:r>
            <a:r>
              <a:rPr sz="1650" cap="small" spc="85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85" dirty="0">
                <a:solidFill>
                  <a:srgbClr val="DAD8E9"/>
                </a:solidFill>
                <a:latin typeface="Trebuchet MS"/>
                <a:cs typeface="Trebuchet MS"/>
              </a:rPr>
              <a:t>cale</a:t>
            </a:r>
            <a:r>
              <a:rPr sz="1650" spc="12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70" dirty="0">
                <a:solidFill>
                  <a:srgbClr val="DAD8E9"/>
                </a:solidFill>
                <a:latin typeface="Trebuchet MS"/>
                <a:cs typeface="Trebuchet MS"/>
              </a:rPr>
              <a:t>re</a:t>
            </a:r>
            <a:r>
              <a:rPr sz="1650" cap="small" spc="70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70" dirty="0">
                <a:solidFill>
                  <a:srgbClr val="DAD8E9"/>
                </a:solidFill>
                <a:latin typeface="Trebuchet MS"/>
                <a:cs typeface="Trebuchet MS"/>
              </a:rPr>
              <a:t>taurant</a:t>
            </a:r>
            <a:r>
              <a:rPr sz="1650" spc="12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55" dirty="0">
                <a:solidFill>
                  <a:srgbClr val="DAD8E9"/>
                </a:solidFill>
                <a:latin typeface="Trebuchet MS"/>
                <a:cs typeface="Trebuchet MS"/>
              </a:rPr>
              <a:t>operation</a:t>
            </a:r>
            <a:r>
              <a:rPr sz="1650" cap="small" spc="55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55" dirty="0">
                <a:solidFill>
                  <a:srgbClr val="DAD8E9"/>
                </a:solidFill>
                <a:latin typeface="Trebuchet MS"/>
                <a:cs typeface="Trebuchet MS"/>
              </a:rPr>
              <a:t>.</a:t>
            </a:r>
            <a:endParaRPr sz="1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6610350"/>
          </a:xfrm>
          <a:custGeom>
            <a:avLst/>
            <a:gdLst/>
            <a:ahLst/>
            <a:cxnLst/>
            <a:rect l="l" t="t" r="r" b="b"/>
            <a:pathLst>
              <a:path w="11430000" h="6610350">
                <a:moveTo>
                  <a:pt x="11430000" y="0"/>
                </a:moveTo>
                <a:lnTo>
                  <a:pt x="0" y="0"/>
                </a:lnTo>
                <a:lnTo>
                  <a:pt x="0" y="6610350"/>
                </a:lnTo>
                <a:lnTo>
                  <a:pt x="11430000" y="66103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A0C2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10" dirty="0"/>
              <a:t>How</a:t>
            </a:r>
            <a:r>
              <a:rPr spc="190" dirty="0"/>
              <a:t> </a:t>
            </a:r>
            <a:r>
              <a:rPr dirty="0"/>
              <a:t>It</a:t>
            </a:r>
            <a:r>
              <a:rPr spc="190" dirty="0"/>
              <a:t> </a:t>
            </a:r>
            <a:r>
              <a:rPr spc="110" dirty="0"/>
              <a:t>Work</a:t>
            </a:r>
            <a:r>
              <a:rPr cap="small" spc="110" dirty="0"/>
              <a:t>s</a:t>
            </a:r>
            <a:r>
              <a:rPr spc="110" dirty="0"/>
              <a:t>:</a:t>
            </a:r>
            <a:r>
              <a:rPr spc="190" dirty="0"/>
              <a:t> </a:t>
            </a:r>
            <a:r>
              <a:rPr spc="110" dirty="0"/>
              <a:t>From</a:t>
            </a:r>
            <a:r>
              <a:rPr spc="190" dirty="0"/>
              <a:t> </a:t>
            </a:r>
            <a:r>
              <a:rPr spc="100" dirty="0"/>
              <a:t>Data</a:t>
            </a:r>
            <a:r>
              <a:rPr spc="190" dirty="0"/>
              <a:t> </a:t>
            </a:r>
            <a:r>
              <a:rPr spc="155" dirty="0"/>
              <a:t>to</a:t>
            </a:r>
            <a:r>
              <a:rPr spc="190" dirty="0"/>
              <a:t> </a:t>
            </a:r>
            <a:r>
              <a:rPr spc="165" dirty="0"/>
              <a:t>Deci</a:t>
            </a:r>
            <a:r>
              <a:rPr cap="small" spc="165" dirty="0"/>
              <a:t>s</a:t>
            </a:r>
            <a:r>
              <a:rPr spc="165" dirty="0"/>
              <a:t>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70247" y="1441772"/>
            <a:ext cx="976630" cy="4646295"/>
            <a:chOff x="670247" y="1441772"/>
            <a:chExt cx="976630" cy="4646295"/>
          </a:xfrm>
        </p:grpSpPr>
        <p:sp>
          <p:nvSpPr>
            <p:cNvPr id="5" name="object 5"/>
            <p:cNvSpPr/>
            <p:nvPr/>
          </p:nvSpPr>
          <p:spPr>
            <a:xfrm>
              <a:off x="676275" y="1447799"/>
              <a:ext cx="964565" cy="1157605"/>
            </a:xfrm>
            <a:custGeom>
              <a:avLst/>
              <a:gdLst/>
              <a:ahLst/>
              <a:cxnLst/>
              <a:rect l="l" t="t" r="r" b="b"/>
              <a:pathLst>
                <a:path w="964564" h="1157605">
                  <a:moveTo>
                    <a:pt x="964412" y="0"/>
                  </a:moveTo>
                  <a:lnTo>
                    <a:pt x="482203" y="192887"/>
                  </a:lnTo>
                  <a:lnTo>
                    <a:pt x="0" y="0"/>
                  </a:lnTo>
                  <a:lnTo>
                    <a:pt x="0" y="964412"/>
                  </a:lnTo>
                  <a:lnTo>
                    <a:pt x="482203" y="1157287"/>
                  </a:lnTo>
                  <a:lnTo>
                    <a:pt x="964412" y="964412"/>
                  </a:lnTo>
                  <a:lnTo>
                    <a:pt x="964412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6275" y="1447799"/>
              <a:ext cx="964565" cy="1157605"/>
            </a:xfrm>
            <a:custGeom>
              <a:avLst/>
              <a:gdLst/>
              <a:ahLst/>
              <a:cxnLst/>
              <a:rect l="l" t="t" r="r" b="b"/>
              <a:pathLst>
                <a:path w="964564" h="1157605">
                  <a:moveTo>
                    <a:pt x="0" y="964412"/>
                  </a:moveTo>
                  <a:lnTo>
                    <a:pt x="482203" y="1157287"/>
                  </a:lnTo>
                  <a:lnTo>
                    <a:pt x="964412" y="964412"/>
                  </a:lnTo>
                  <a:lnTo>
                    <a:pt x="964412" y="0"/>
                  </a:lnTo>
                  <a:lnTo>
                    <a:pt x="482203" y="192887"/>
                  </a:lnTo>
                  <a:lnTo>
                    <a:pt x="0" y="0"/>
                  </a:lnTo>
                  <a:lnTo>
                    <a:pt x="0" y="964412"/>
                  </a:lnTo>
                  <a:close/>
                </a:path>
              </a:pathLst>
            </a:custGeom>
            <a:ln w="1205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6407" y="1879542"/>
              <a:ext cx="295805" cy="29566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25966" y="1989861"/>
              <a:ext cx="254000" cy="185420"/>
            </a:xfrm>
            <a:custGeom>
              <a:avLst/>
              <a:gdLst/>
              <a:ahLst/>
              <a:cxnLst/>
              <a:rect l="l" t="t" r="r" b="b"/>
              <a:pathLst>
                <a:path w="254000" h="185419">
                  <a:moveTo>
                    <a:pt x="253875" y="185280"/>
                  </a:moveTo>
                  <a:lnTo>
                    <a:pt x="73" y="185407"/>
                  </a:lnTo>
                  <a:lnTo>
                    <a:pt x="0" y="104444"/>
                  </a:lnTo>
                </a:path>
                <a:path w="254000" h="185419">
                  <a:moveTo>
                    <a:pt x="153579" y="62674"/>
                  </a:moveTo>
                  <a:lnTo>
                    <a:pt x="99773" y="62661"/>
                  </a:lnTo>
                </a:path>
                <a:path w="254000" h="185419">
                  <a:moveTo>
                    <a:pt x="153579" y="62674"/>
                  </a:moveTo>
                  <a:lnTo>
                    <a:pt x="153506" y="185356"/>
                  </a:lnTo>
                </a:path>
                <a:path w="254000" h="185419">
                  <a:moveTo>
                    <a:pt x="99773" y="62661"/>
                  </a:moveTo>
                  <a:lnTo>
                    <a:pt x="99739" y="185381"/>
                  </a:lnTo>
                </a:path>
                <a:path w="254000" h="185419">
                  <a:moveTo>
                    <a:pt x="253862" y="0"/>
                  </a:moveTo>
                  <a:lnTo>
                    <a:pt x="203114" y="50"/>
                  </a:lnTo>
                </a:path>
                <a:path w="254000" h="185419">
                  <a:moveTo>
                    <a:pt x="253875" y="185280"/>
                  </a:moveTo>
                  <a:lnTo>
                    <a:pt x="253862" y="0"/>
                  </a:lnTo>
                </a:path>
                <a:path w="254000" h="185419">
                  <a:moveTo>
                    <a:pt x="203130" y="185369"/>
                  </a:moveTo>
                  <a:lnTo>
                    <a:pt x="203114" y="50"/>
                  </a:lnTo>
                </a:path>
              </a:pathLst>
            </a:custGeom>
            <a:ln w="12814">
              <a:solidFill>
                <a:srgbClr val="DAD8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6275" y="2609849"/>
              <a:ext cx="964565" cy="1157605"/>
            </a:xfrm>
            <a:custGeom>
              <a:avLst/>
              <a:gdLst/>
              <a:ahLst/>
              <a:cxnLst/>
              <a:rect l="l" t="t" r="r" b="b"/>
              <a:pathLst>
                <a:path w="964564" h="1157604">
                  <a:moveTo>
                    <a:pt x="964412" y="0"/>
                  </a:moveTo>
                  <a:lnTo>
                    <a:pt x="482203" y="192887"/>
                  </a:lnTo>
                  <a:lnTo>
                    <a:pt x="0" y="0"/>
                  </a:lnTo>
                  <a:lnTo>
                    <a:pt x="0" y="964412"/>
                  </a:lnTo>
                  <a:lnTo>
                    <a:pt x="482203" y="1157287"/>
                  </a:lnTo>
                  <a:lnTo>
                    <a:pt x="964412" y="964412"/>
                  </a:lnTo>
                  <a:lnTo>
                    <a:pt x="964412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275" y="2609849"/>
              <a:ext cx="964565" cy="1157605"/>
            </a:xfrm>
            <a:custGeom>
              <a:avLst/>
              <a:gdLst/>
              <a:ahLst/>
              <a:cxnLst/>
              <a:rect l="l" t="t" r="r" b="b"/>
              <a:pathLst>
                <a:path w="964564" h="1157604">
                  <a:moveTo>
                    <a:pt x="0" y="964412"/>
                  </a:moveTo>
                  <a:lnTo>
                    <a:pt x="482203" y="1157287"/>
                  </a:lnTo>
                  <a:lnTo>
                    <a:pt x="964412" y="964412"/>
                  </a:lnTo>
                  <a:lnTo>
                    <a:pt x="964412" y="0"/>
                  </a:lnTo>
                  <a:lnTo>
                    <a:pt x="482203" y="192887"/>
                  </a:lnTo>
                  <a:lnTo>
                    <a:pt x="0" y="0"/>
                  </a:lnTo>
                  <a:lnTo>
                    <a:pt x="0" y="964412"/>
                  </a:lnTo>
                  <a:close/>
                </a:path>
              </a:pathLst>
            </a:custGeom>
            <a:ln w="1205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3251" y="3043874"/>
              <a:ext cx="302114" cy="29756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6275" y="3762374"/>
              <a:ext cx="964565" cy="1157605"/>
            </a:xfrm>
            <a:custGeom>
              <a:avLst/>
              <a:gdLst/>
              <a:ahLst/>
              <a:cxnLst/>
              <a:rect l="l" t="t" r="r" b="b"/>
              <a:pathLst>
                <a:path w="964564" h="1157604">
                  <a:moveTo>
                    <a:pt x="964412" y="0"/>
                  </a:moveTo>
                  <a:lnTo>
                    <a:pt x="482203" y="192887"/>
                  </a:lnTo>
                  <a:lnTo>
                    <a:pt x="0" y="0"/>
                  </a:lnTo>
                  <a:lnTo>
                    <a:pt x="0" y="964412"/>
                  </a:lnTo>
                  <a:lnTo>
                    <a:pt x="482203" y="1157287"/>
                  </a:lnTo>
                  <a:lnTo>
                    <a:pt x="964412" y="964412"/>
                  </a:lnTo>
                  <a:lnTo>
                    <a:pt x="964412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6275" y="3762374"/>
              <a:ext cx="964565" cy="1157605"/>
            </a:xfrm>
            <a:custGeom>
              <a:avLst/>
              <a:gdLst/>
              <a:ahLst/>
              <a:cxnLst/>
              <a:rect l="l" t="t" r="r" b="b"/>
              <a:pathLst>
                <a:path w="964564" h="1157604">
                  <a:moveTo>
                    <a:pt x="0" y="964412"/>
                  </a:moveTo>
                  <a:lnTo>
                    <a:pt x="482203" y="1157287"/>
                  </a:lnTo>
                  <a:lnTo>
                    <a:pt x="964412" y="964412"/>
                  </a:lnTo>
                  <a:lnTo>
                    <a:pt x="964412" y="0"/>
                  </a:lnTo>
                  <a:lnTo>
                    <a:pt x="482203" y="192887"/>
                  </a:lnTo>
                  <a:lnTo>
                    <a:pt x="0" y="0"/>
                  </a:lnTo>
                  <a:lnTo>
                    <a:pt x="0" y="964412"/>
                  </a:lnTo>
                  <a:close/>
                </a:path>
              </a:pathLst>
            </a:custGeom>
            <a:ln w="1205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09575" y="4211789"/>
              <a:ext cx="289560" cy="266700"/>
            </a:xfrm>
            <a:custGeom>
              <a:avLst/>
              <a:gdLst/>
              <a:ahLst/>
              <a:cxnLst/>
              <a:rect l="l" t="t" r="r" b="b"/>
              <a:pathLst>
                <a:path w="289559" h="266700">
                  <a:moveTo>
                    <a:pt x="262495" y="66776"/>
                  </a:moveTo>
                  <a:lnTo>
                    <a:pt x="247721" y="114350"/>
                  </a:lnTo>
                  <a:lnTo>
                    <a:pt x="245200" y="128905"/>
                  </a:lnTo>
                </a:path>
                <a:path w="289559" h="266700">
                  <a:moveTo>
                    <a:pt x="197807" y="135737"/>
                  </a:moveTo>
                  <a:lnTo>
                    <a:pt x="178564" y="98640"/>
                  </a:lnTo>
                  <a:lnTo>
                    <a:pt x="178499" y="94513"/>
                  </a:lnTo>
                  <a:lnTo>
                    <a:pt x="178762" y="90373"/>
                  </a:lnTo>
                  <a:lnTo>
                    <a:pt x="179725" y="83947"/>
                  </a:lnTo>
                  <a:lnTo>
                    <a:pt x="181288" y="76047"/>
                  </a:lnTo>
                  <a:lnTo>
                    <a:pt x="183456" y="66636"/>
                  </a:lnTo>
                </a:path>
                <a:path w="289559" h="266700">
                  <a:moveTo>
                    <a:pt x="289393" y="51930"/>
                  </a:moveTo>
                  <a:lnTo>
                    <a:pt x="269721" y="66802"/>
                  </a:lnTo>
                  <a:lnTo>
                    <a:pt x="262495" y="66776"/>
                  </a:lnTo>
                  <a:lnTo>
                    <a:pt x="253112" y="66395"/>
                  </a:lnTo>
                </a:path>
                <a:path w="289559" h="266700">
                  <a:moveTo>
                    <a:pt x="187246" y="66484"/>
                  </a:moveTo>
                  <a:lnTo>
                    <a:pt x="149955" y="76136"/>
                  </a:lnTo>
                  <a:lnTo>
                    <a:pt x="127069" y="109385"/>
                  </a:lnTo>
                  <a:lnTo>
                    <a:pt x="123983" y="120421"/>
                  </a:lnTo>
                </a:path>
                <a:path w="289559" h="266700">
                  <a:moveTo>
                    <a:pt x="28823" y="266687"/>
                  </a:moveTo>
                  <a:lnTo>
                    <a:pt x="0" y="241414"/>
                  </a:lnTo>
                  <a:lnTo>
                    <a:pt x="90" y="236689"/>
                  </a:lnTo>
                  <a:lnTo>
                    <a:pt x="571" y="233133"/>
                  </a:lnTo>
                  <a:lnTo>
                    <a:pt x="1459" y="229120"/>
                  </a:lnTo>
                  <a:lnTo>
                    <a:pt x="6013" y="212648"/>
                  </a:lnTo>
                </a:path>
                <a:path w="289559" h="266700">
                  <a:moveTo>
                    <a:pt x="39629" y="92748"/>
                  </a:moveTo>
                  <a:lnTo>
                    <a:pt x="40566" y="88595"/>
                  </a:lnTo>
                  <a:lnTo>
                    <a:pt x="40894" y="86017"/>
                  </a:lnTo>
                  <a:lnTo>
                    <a:pt x="40943" y="83477"/>
                  </a:lnTo>
                  <a:lnTo>
                    <a:pt x="40436" y="80060"/>
                  </a:lnTo>
                  <a:lnTo>
                    <a:pt x="22086" y="66484"/>
                  </a:lnTo>
                  <a:lnTo>
                    <a:pt x="7025" y="66268"/>
                  </a:lnTo>
                </a:path>
                <a:path w="289559" h="266700">
                  <a:moveTo>
                    <a:pt x="245200" y="128905"/>
                  </a:moveTo>
                  <a:lnTo>
                    <a:pt x="221660" y="160489"/>
                  </a:lnTo>
                  <a:lnTo>
                    <a:pt x="205731" y="162775"/>
                  </a:lnTo>
                  <a:lnTo>
                    <a:pt x="197802" y="162839"/>
                  </a:lnTo>
                </a:path>
                <a:path w="289559" h="266700">
                  <a:moveTo>
                    <a:pt x="289380" y="88"/>
                  </a:moveTo>
                  <a:lnTo>
                    <a:pt x="289393" y="51930"/>
                  </a:lnTo>
                </a:path>
                <a:path w="289559" h="266700">
                  <a:moveTo>
                    <a:pt x="289380" y="88"/>
                  </a:moveTo>
                  <a:lnTo>
                    <a:pt x="27642" y="0"/>
                  </a:lnTo>
                </a:path>
                <a:path w="289559" h="266700">
                  <a:moveTo>
                    <a:pt x="253112" y="66395"/>
                  </a:moveTo>
                  <a:lnTo>
                    <a:pt x="187246" y="66484"/>
                  </a:lnTo>
                </a:path>
              </a:pathLst>
            </a:custGeom>
            <a:ln w="12818">
              <a:solidFill>
                <a:srgbClr val="DAD8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8921" y="4205240"/>
              <a:ext cx="198456" cy="28001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76275" y="4924424"/>
              <a:ext cx="964565" cy="1157605"/>
            </a:xfrm>
            <a:custGeom>
              <a:avLst/>
              <a:gdLst/>
              <a:ahLst/>
              <a:cxnLst/>
              <a:rect l="l" t="t" r="r" b="b"/>
              <a:pathLst>
                <a:path w="964564" h="1157604">
                  <a:moveTo>
                    <a:pt x="964412" y="0"/>
                  </a:moveTo>
                  <a:lnTo>
                    <a:pt x="482203" y="192887"/>
                  </a:lnTo>
                  <a:lnTo>
                    <a:pt x="0" y="0"/>
                  </a:lnTo>
                  <a:lnTo>
                    <a:pt x="0" y="964408"/>
                  </a:lnTo>
                  <a:lnTo>
                    <a:pt x="482203" y="1157290"/>
                  </a:lnTo>
                  <a:lnTo>
                    <a:pt x="964412" y="964408"/>
                  </a:lnTo>
                  <a:lnTo>
                    <a:pt x="964412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6275" y="4924424"/>
              <a:ext cx="964565" cy="1157605"/>
            </a:xfrm>
            <a:custGeom>
              <a:avLst/>
              <a:gdLst/>
              <a:ahLst/>
              <a:cxnLst/>
              <a:rect l="l" t="t" r="r" b="b"/>
              <a:pathLst>
                <a:path w="964564" h="1157604">
                  <a:moveTo>
                    <a:pt x="0" y="964408"/>
                  </a:moveTo>
                  <a:lnTo>
                    <a:pt x="482203" y="1157290"/>
                  </a:lnTo>
                  <a:lnTo>
                    <a:pt x="964412" y="964408"/>
                  </a:lnTo>
                  <a:lnTo>
                    <a:pt x="964412" y="0"/>
                  </a:lnTo>
                  <a:lnTo>
                    <a:pt x="482203" y="192887"/>
                  </a:lnTo>
                  <a:lnTo>
                    <a:pt x="0" y="0"/>
                  </a:lnTo>
                  <a:lnTo>
                    <a:pt x="0" y="964408"/>
                  </a:lnTo>
                  <a:close/>
                </a:path>
              </a:pathLst>
            </a:custGeom>
            <a:ln w="1205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3242" y="5370000"/>
              <a:ext cx="302133" cy="274955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Data</a:t>
            </a:r>
            <a:r>
              <a:rPr spc="114" dirty="0"/>
              <a:t> </a:t>
            </a:r>
            <a:r>
              <a:rPr spc="60" dirty="0"/>
              <a:t>Collection</a:t>
            </a: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500" spc="-45" dirty="0">
                <a:latin typeface="Tahoma"/>
                <a:cs typeface="Tahoma"/>
              </a:rPr>
              <a:t>Continuously</a:t>
            </a:r>
            <a:r>
              <a:rPr sz="1500" spc="-125" dirty="0">
                <a:latin typeface="Tahoma"/>
                <a:cs typeface="Tahoma"/>
              </a:rPr>
              <a:t> </a:t>
            </a:r>
            <a:r>
              <a:rPr sz="1500" spc="-35" dirty="0">
                <a:latin typeface="Tahoma"/>
                <a:cs typeface="Tahoma"/>
              </a:rPr>
              <a:t>gathers</a:t>
            </a:r>
            <a:r>
              <a:rPr sz="1500" spc="-12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historical</a:t>
            </a:r>
            <a:r>
              <a:rPr sz="1500" spc="-120" dirty="0">
                <a:latin typeface="Tahoma"/>
                <a:cs typeface="Tahoma"/>
              </a:rPr>
              <a:t> </a:t>
            </a:r>
            <a:r>
              <a:rPr sz="1500" spc="-60" dirty="0">
                <a:latin typeface="Tahoma"/>
                <a:cs typeface="Tahoma"/>
              </a:rPr>
              <a:t>sales</a:t>
            </a:r>
            <a:r>
              <a:rPr sz="1500" spc="-125" dirty="0">
                <a:latin typeface="Tahoma"/>
                <a:cs typeface="Tahoma"/>
              </a:rPr>
              <a:t> </a:t>
            </a:r>
            <a:r>
              <a:rPr sz="1500" spc="-65" dirty="0">
                <a:latin typeface="Tahoma"/>
                <a:cs typeface="Tahoma"/>
              </a:rPr>
              <a:t>data,</a:t>
            </a:r>
            <a:r>
              <a:rPr sz="1500" spc="-120" dirty="0">
                <a:latin typeface="Tahoma"/>
                <a:cs typeface="Tahoma"/>
              </a:rPr>
              <a:t> </a:t>
            </a:r>
            <a:r>
              <a:rPr sz="1500" spc="-35" dirty="0">
                <a:latin typeface="Tahoma"/>
                <a:cs typeface="Tahoma"/>
              </a:rPr>
              <a:t>supplier</a:t>
            </a:r>
            <a:r>
              <a:rPr sz="1500" spc="-1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information</a:t>
            </a:r>
            <a:r>
              <a:rPr sz="1500" spc="175" dirty="0">
                <a:latin typeface="Tahoma"/>
                <a:cs typeface="Tahoma"/>
              </a:rPr>
              <a:t> </a:t>
            </a:r>
            <a:r>
              <a:rPr sz="1500" spc="-55" dirty="0">
                <a:latin typeface="Tahoma"/>
                <a:cs typeface="Tahoma"/>
              </a:rPr>
              <a:t>and</a:t>
            </a:r>
            <a:r>
              <a:rPr sz="1500" spc="-125" dirty="0">
                <a:latin typeface="Tahoma"/>
                <a:cs typeface="Tahoma"/>
              </a:rPr>
              <a:t> </a:t>
            </a:r>
            <a:r>
              <a:rPr sz="1500" spc="-35" dirty="0">
                <a:latin typeface="Tahoma"/>
                <a:cs typeface="Tahoma"/>
              </a:rPr>
              <a:t>external</a:t>
            </a:r>
            <a:r>
              <a:rPr sz="1500" spc="-1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factors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pc="125" dirty="0"/>
              <a:t>AI</a:t>
            </a:r>
            <a:r>
              <a:rPr spc="114" dirty="0"/>
              <a:t> </a:t>
            </a:r>
            <a:r>
              <a:rPr spc="110" dirty="0"/>
              <a:t>Analy</a:t>
            </a:r>
            <a:r>
              <a:rPr cap="small" spc="110" dirty="0"/>
              <a:t>s</a:t>
            </a:r>
            <a:r>
              <a:rPr spc="110" dirty="0"/>
              <a:t>i</a:t>
            </a:r>
            <a:r>
              <a:rPr cap="small" spc="110" dirty="0"/>
              <a:t>s</a:t>
            </a: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500" spc="-30" dirty="0">
                <a:latin typeface="Tahoma"/>
                <a:cs typeface="Tahoma"/>
              </a:rPr>
              <a:t>Machine</a:t>
            </a:r>
            <a:r>
              <a:rPr sz="1500" spc="-95" dirty="0">
                <a:latin typeface="Tahoma"/>
                <a:cs typeface="Tahoma"/>
              </a:rPr>
              <a:t> </a:t>
            </a:r>
            <a:r>
              <a:rPr sz="1500" spc="-40" dirty="0">
                <a:latin typeface="Tahoma"/>
                <a:cs typeface="Tahoma"/>
              </a:rPr>
              <a:t>learning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-45" dirty="0">
                <a:latin typeface="Tahoma"/>
                <a:cs typeface="Tahoma"/>
              </a:rPr>
              <a:t>models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-65" dirty="0">
                <a:latin typeface="Tahoma"/>
                <a:cs typeface="Tahoma"/>
              </a:rPr>
              <a:t>analyze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-45" dirty="0">
                <a:latin typeface="Tahoma"/>
                <a:cs typeface="Tahoma"/>
              </a:rPr>
              <a:t>patterns,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identify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-55" dirty="0">
                <a:latin typeface="Tahoma"/>
                <a:cs typeface="Tahoma"/>
              </a:rPr>
              <a:t>trends,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-55" dirty="0">
                <a:latin typeface="Tahoma"/>
                <a:cs typeface="Tahoma"/>
              </a:rPr>
              <a:t>and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-40" dirty="0">
                <a:latin typeface="Tahoma"/>
                <a:cs typeface="Tahoma"/>
              </a:rPr>
              <a:t>update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-40" dirty="0">
                <a:latin typeface="Tahoma"/>
                <a:cs typeface="Tahoma"/>
              </a:rPr>
              <a:t>forecasts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in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-35" dirty="0">
                <a:latin typeface="Tahoma"/>
                <a:cs typeface="Tahoma"/>
              </a:rPr>
              <a:t>real-</a:t>
            </a:r>
            <a:r>
              <a:rPr sz="1500" spc="-20" dirty="0">
                <a:latin typeface="Tahoma"/>
                <a:cs typeface="Tahoma"/>
              </a:rPr>
              <a:t>time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pc="135" dirty="0"/>
              <a:t>Auto</a:t>
            </a:r>
            <a:r>
              <a:rPr spc="114" dirty="0"/>
              <a:t> </a:t>
            </a:r>
            <a:r>
              <a:rPr spc="110" dirty="0"/>
              <a:t>Re</a:t>
            </a:r>
            <a:r>
              <a:rPr cap="small" spc="110" dirty="0"/>
              <a:t>s</a:t>
            </a:r>
            <a:r>
              <a:rPr spc="110" dirty="0"/>
              <a:t>tock</a:t>
            </a:r>
            <a:r>
              <a:rPr spc="114" dirty="0"/>
              <a:t> </a:t>
            </a:r>
            <a:r>
              <a:rPr spc="85" dirty="0"/>
              <a:t>Trigger</a:t>
            </a: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500" spc="-75" dirty="0">
                <a:latin typeface="Tahoma"/>
                <a:cs typeface="Tahoma"/>
              </a:rPr>
              <a:t>Backend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-30" dirty="0">
                <a:latin typeface="Tahoma"/>
                <a:cs typeface="Tahoma"/>
              </a:rPr>
              <a:t>automatically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-45" dirty="0">
                <a:latin typeface="Tahoma"/>
                <a:cs typeface="Tahoma"/>
              </a:rPr>
              <a:t>generates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55" dirty="0">
                <a:latin typeface="Tahoma"/>
                <a:cs typeface="Tahoma"/>
              </a:rPr>
              <a:t>purchase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-40" dirty="0">
                <a:latin typeface="Tahoma"/>
                <a:cs typeface="Tahoma"/>
              </a:rPr>
              <a:t>orders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-60" dirty="0">
                <a:latin typeface="Tahoma"/>
                <a:cs typeface="Tahoma"/>
              </a:rPr>
              <a:t>when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40" dirty="0">
                <a:latin typeface="Tahoma"/>
                <a:cs typeface="Tahoma"/>
              </a:rPr>
              <a:t>inventory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-55" dirty="0">
                <a:latin typeface="Tahoma"/>
                <a:cs typeface="Tahoma"/>
              </a:rPr>
              <a:t>reaches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-50" dirty="0">
                <a:latin typeface="Tahoma"/>
                <a:cs typeface="Tahoma"/>
              </a:rPr>
              <a:t>AI-optimized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35" dirty="0">
                <a:latin typeface="Tahoma"/>
                <a:cs typeface="Tahoma"/>
              </a:rPr>
              <a:t>reorder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points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70" dirty="0"/>
              <a:t>Live</a:t>
            </a:r>
            <a:r>
              <a:rPr spc="114" dirty="0"/>
              <a:t> Da</a:t>
            </a:r>
            <a:r>
              <a:rPr cap="small" spc="114" dirty="0"/>
              <a:t>s</a:t>
            </a:r>
            <a:r>
              <a:rPr spc="114" dirty="0"/>
              <a:t>hboard</a:t>
            </a: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500" spc="-50" dirty="0">
                <a:latin typeface="Tahoma"/>
                <a:cs typeface="Tahoma"/>
              </a:rPr>
              <a:t>Frontend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50" dirty="0">
                <a:latin typeface="Tahoma"/>
                <a:cs typeface="Tahoma"/>
              </a:rPr>
              <a:t>provides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35" dirty="0">
                <a:latin typeface="Tahoma"/>
                <a:cs typeface="Tahoma"/>
              </a:rPr>
              <a:t>real-</a:t>
            </a:r>
            <a:r>
              <a:rPr sz="1500" spc="-45" dirty="0">
                <a:latin typeface="Tahoma"/>
                <a:cs typeface="Tahoma"/>
              </a:rPr>
              <a:t>time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45" dirty="0">
                <a:latin typeface="Tahoma"/>
                <a:cs typeface="Tahoma"/>
              </a:rPr>
              <a:t>visibility,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35" dirty="0">
                <a:latin typeface="Tahoma"/>
                <a:cs typeface="Tahoma"/>
              </a:rPr>
              <a:t>actionable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-50" dirty="0">
                <a:latin typeface="Tahoma"/>
                <a:cs typeface="Tahoma"/>
              </a:rPr>
              <a:t>alerts,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55" dirty="0">
                <a:latin typeface="Tahoma"/>
                <a:cs typeface="Tahoma"/>
              </a:rPr>
              <a:t>and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55" dirty="0">
                <a:latin typeface="Tahoma"/>
                <a:cs typeface="Tahoma"/>
              </a:rPr>
              <a:t>comprehensive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insights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for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managers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305675"/>
          </a:xfrm>
          <a:custGeom>
            <a:avLst/>
            <a:gdLst/>
            <a:ahLst/>
            <a:cxnLst/>
            <a:rect l="l" t="t" r="r" b="b"/>
            <a:pathLst>
              <a:path w="11430000" h="8039100">
                <a:moveTo>
                  <a:pt x="11430000" y="0"/>
                </a:moveTo>
                <a:lnTo>
                  <a:pt x="0" y="0"/>
                </a:lnTo>
                <a:lnTo>
                  <a:pt x="0" y="8039100"/>
                </a:lnTo>
                <a:lnTo>
                  <a:pt x="11430000" y="80391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A0C2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4"/>
            <a:ext cx="4286250" cy="730542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62385" y="295275"/>
            <a:ext cx="8703941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298315" marR="5080">
              <a:lnSpc>
                <a:spcPts val="4200"/>
              </a:lnSpc>
              <a:spcBef>
                <a:spcPts val="50"/>
              </a:spcBef>
            </a:pPr>
            <a:r>
              <a:rPr spc="80" dirty="0"/>
              <a:t>Real-</a:t>
            </a:r>
            <a:r>
              <a:rPr spc="175" dirty="0"/>
              <a:t>World</a:t>
            </a:r>
            <a:r>
              <a:rPr spc="225" dirty="0"/>
              <a:t> </a:t>
            </a:r>
            <a:r>
              <a:rPr spc="100" dirty="0"/>
              <a:t>Impact</a:t>
            </a:r>
            <a:r>
              <a:rPr spc="225" dirty="0"/>
              <a:t> </a:t>
            </a:r>
            <a:r>
              <a:rPr spc="-145" dirty="0"/>
              <a:t>&amp; </a:t>
            </a:r>
            <a:r>
              <a:rPr spc="130" dirty="0"/>
              <a:t>Benefit</a:t>
            </a:r>
            <a:r>
              <a:rPr cap="small" spc="130" dirty="0"/>
              <a:t>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951447" y="1819275"/>
            <a:ext cx="504825" cy="481330"/>
            <a:chOff x="4951447" y="1896093"/>
            <a:chExt cx="504825" cy="4813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9171" y="1951021"/>
              <a:ext cx="476561" cy="1304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962131" y="1906777"/>
              <a:ext cx="470534" cy="459740"/>
            </a:xfrm>
            <a:custGeom>
              <a:avLst/>
              <a:gdLst/>
              <a:ahLst/>
              <a:cxnLst/>
              <a:rect l="l" t="t" r="r" b="b"/>
              <a:pathLst>
                <a:path w="470535" h="459739">
                  <a:moveTo>
                    <a:pt x="313905" y="243014"/>
                  </a:moveTo>
                  <a:lnTo>
                    <a:pt x="169735" y="243027"/>
                  </a:lnTo>
                </a:path>
                <a:path w="470535" h="459739">
                  <a:moveTo>
                    <a:pt x="314134" y="459600"/>
                  </a:moveTo>
                  <a:lnTo>
                    <a:pt x="313905" y="243014"/>
                  </a:lnTo>
                </a:path>
                <a:path w="470535" h="459739">
                  <a:moveTo>
                    <a:pt x="458203" y="459422"/>
                  </a:moveTo>
                  <a:lnTo>
                    <a:pt x="25234" y="459346"/>
                  </a:lnTo>
                </a:path>
                <a:path w="470535" h="459739">
                  <a:moveTo>
                    <a:pt x="169735" y="243027"/>
                  </a:moveTo>
                  <a:lnTo>
                    <a:pt x="169532" y="459600"/>
                  </a:lnTo>
                </a:path>
                <a:path w="470535" h="459739">
                  <a:moveTo>
                    <a:pt x="458216" y="153416"/>
                  </a:moveTo>
                  <a:lnTo>
                    <a:pt x="458203" y="459422"/>
                  </a:lnTo>
                </a:path>
                <a:path w="470535" h="459739">
                  <a:moveTo>
                    <a:pt x="25234" y="459346"/>
                  </a:moveTo>
                  <a:lnTo>
                    <a:pt x="25107" y="154546"/>
                  </a:lnTo>
                </a:path>
                <a:path w="470535" h="459739">
                  <a:moveTo>
                    <a:pt x="450291" y="190"/>
                  </a:moveTo>
                  <a:lnTo>
                    <a:pt x="33743" y="0"/>
                  </a:lnTo>
                </a:path>
                <a:path w="470535" h="459739">
                  <a:moveTo>
                    <a:pt x="361975" y="107810"/>
                  </a:moveTo>
                  <a:lnTo>
                    <a:pt x="361505" y="119126"/>
                  </a:lnTo>
                </a:path>
                <a:path w="470535" h="459739">
                  <a:moveTo>
                    <a:pt x="242112" y="105841"/>
                  </a:moveTo>
                  <a:lnTo>
                    <a:pt x="242366" y="121183"/>
                  </a:lnTo>
                </a:path>
                <a:path w="470535" h="459739">
                  <a:moveTo>
                    <a:pt x="121881" y="105067"/>
                  </a:moveTo>
                  <a:lnTo>
                    <a:pt x="121678" y="120662"/>
                  </a:lnTo>
                </a:path>
                <a:path w="470535" h="459739">
                  <a:moveTo>
                    <a:pt x="33743" y="0"/>
                  </a:moveTo>
                  <a:lnTo>
                    <a:pt x="5880" y="76047"/>
                  </a:lnTo>
                </a:path>
                <a:path w="470535" h="459739">
                  <a:moveTo>
                    <a:pt x="469938" y="54927"/>
                  </a:moveTo>
                  <a:lnTo>
                    <a:pt x="450291" y="190"/>
                  </a:lnTo>
                </a:path>
                <a:path w="470535" h="459739">
                  <a:moveTo>
                    <a:pt x="6121" y="76161"/>
                  </a:moveTo>
                  <a:lnTo>
                    <a:pt x="3149" y="82689"/>
                  </a:lnTo>
                  <a:lnTo>
                    <a:pt x="1320" y="89535"/>
                  </a:lnTo>
                  <a:lnTo>
                    <a:pt x="660" y="96685"/>
                  </a:lnTo>
                  <a:lnTo>
                    <a:pt x="0" y="103835"/>
                  </a:lnTo>
                  <a:lnTo>
                    <a:pt x="533" y="110896"/>
                  </a:lnTo>
                  <a:lnTo>
                    <a:pt x="2273" y="117856"/>
                  </a:lnTo>
                  <a:lnTo>
                    <a:pt x="4000" y="124828"/>
                  </a:lnTo>
                  <a:lnTo>
                    <a:pt x="6832" y="131305"/>
                  </a:lnTo>
                  <a:lnTo>
                    <a:pt x="10756" y="137312"/>
                  </a:lnTo>
                  <a:lnTo>
                    <a:pt x="14693" y="143319"/>
                  </a:lnTo>
                  <a:lnTo>
                    <a:pt x="19507" y="148513"/>
                  </a:lnTo>
                  <a:lnTo>
                    <a:pt x="25196" y="152895"/>
                  </a:lnTo>
                </a:path>
              </a:pathLst>
            </a:custGeom>
            <a:ln w="21367">
              <a:solidFill>
                <a:srgbClr val="A85B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956050" y="3343275"/>
            <a:ext cx="495934" cy="494030"/>
            <a:chOff x="4956050" y="3385123"/>
            <a:chExt cx="495934" cy="494030"/>
          </a:xfrm>
        </p:grpSpPr>
        <p:sp>
          <p:nvSpPr>
            <p:cNvPr id="9" name="object 9"/>
            <p:cNvSpPr/>
            <p:nvPr/>
          </p:nvSpPr>
          <p:spPr>
            <a:xfrm>
              <a:off x="4962525" y="3395801"/>
              <a:ext cx="482600" cy="472440"/>
            </a:xfrm>
            <a:custGeom>
              <a:avLst/>
              <a:gdLst/>
              <a:ahLst/>
              <a:cxnLst/>
              <a:rect l="l" t="t" r="r" b="b"/>
              <a:pathLst>
                <a:path w="482600" h="472439">
                  <a:moveTo>
                    <a:pt x="468223" y="427151"/>
                  </a:moveTo>
                  <a:lnTo>
                    <a:pt x="13893" y="427202"/>
                  </a:lnTo>
                </a:path>
                <a:path w="482600" h="472439">
                  <a:moveTo>
                    <a:pt x="468249" y="472376"/>
                  </a:moveTo>
                  <a:lnTo>
                    <a:pt x="468223" y="427151"/>
                  </a:lnTo>
                </a:path>
                <a:path w="482600" h="472439">
                  <a:moveTo>
                    <a:pt x="18491" y="472401"/>
                  </a:moveTo>
                  <a:lnTo>
                    <a:pt x="482206" y="472325"/>
                  </a:lnTo>
                </a:path>
                <a:path w="482600" h="472439">
                  <a:moveTo>
                    <a:pt x="13970" y="472389"/>
                  </a:moveTo>
                  <a:lnTo>
                    <a:pt x="13893" y="427202"/>
                  </a:lnTo>
                </a:path>
                <a:path w="482600" h="472439">
                  <a:moveTo>
                    <a:pt x="478205" y="171551"/>
                  </a:moveTo>
                  <a:lnTo>
                    <a:pt x="4203" y="171538"/>
                  </a:lnTo>
                </a:path>
                <a:path w="482600" h="472439">
                  <a:moveTo>
                    <a:pt x="432663" y="427164"/>
                  </a:moveTo>
                  <a:lnTo>
                    <a:pt x="432650" y="171513"/>
                  </a:lnTo>
                </a:path>
                <a:path w="482600" h="472439">
                  <a:moveTo>
                    <a:pt x="371106" y="427177"/>
                  </a:moveTo>
                  <a:lnTo>
                    <a:pt x="371043" y="171526"/>
                  </a:lnTo>
                </a:path>
                <a:path w="482600" h="472439">
                  <a:moveTo>
                    <a:pt x="272427" y="171526"/>
                  </a:moveTo>
                  <a:lnTo>
                    <a:pt x="272415" y="427189"/>
                  </a:lnTo>
                </a:path>
                <a:path w="482600" h="472439">
                  <a:moveTo>
                    <a:pt x="210527" y="427177"/>
                  </a:moveTo>
                  <a:lnTo>
                    <a:pt x="210337" y="171513"/>
                  </a:lnTo>
                </a:path>
                <a:path w="482600" h="472439">
                  <a:moveTo>
                    <a:pt x="111277" y="427164"/>
                  </a:moveTo>
                  <a:lnTo>
                    <a:pt x="111277" y="171513"/>
                  </a:lnTo>
                </a:path>
                <a:path w="482600" h="472439">
                  <a:moveTo>
                    <a:pt x="50279" y="171513"/>
                  </a:moveTo>
                  <a:lnTo>
                    <a:pt x="50266" y="427151"/>
                  </a:lnTo>
                </a:path>
                <a:path w="482600" h="472439">
                  <a:moveTo>
                    <a:pt x="241134" y="0"/>
                  </a:moveTo>
                  <a:lnTo>
                    <a:pt x="4445" y="147535"/>
                  </a:lnTo>
                </a:path>
                <a:path w="482600" h="472439">
                  <a:moveTo>
                    <a:pt x="478066" y="146634"/>
                  </a:moveTo>
                  <a:lnTo>
                    <a:pt x="241134" y="0"/>
                  </a:lnTo>
                </a:path>
                <a:path w="482600" h="472439">
                  <a:moveTo>
                    <a:pt x="478205" y="171551"/>
                  </a:moveTo>
                  <a:lnTo>
                    <a:pt x="478066" y="146634"/>
                  </a:lnTo>
                </a:path>
                <a:path w="482600" h="472439">
                  <a:moveTo>
                    <a:pt x="4445" y="147535"/>
                  </a:moveTo>
                  <a:lnTo>
                    <a:pt x="4203" y="171538"/>
                  </a:lnTo>
                </a:path>
                <a:path w="482600" h="472439">
                  <a:moveTo>
                    <a:pt x="0" y="472376"/>
                  </a:moveTo>
                  <a:lnTo>
                    <a:pt x="18491" y="472401"/>
                  </a:lnTo>
                </a:path>
              </a:pathLst>
            </a:custGeom>
            <a:ln w="21357">
              <a:solidFill>
                <a:srgbClr val="A85B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6875" y="3446159"/>
              <a:ext cx="93912" cy="93912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43311" y="4714875"/>
            <a:ext cx="320620" cy="503563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4962525" y="6238875"/>
            <a:ext cx="482600" cy="464820"/>
          </a:xfrm>
          <a:custGeom>
            <a:avLst/>
            <a:gdLst/>
            <a:ahLst/>
            <a:cxnLst/>
            <a:rect l="l" t="t" r="r" b="b"/>
            <a:pathLst>
              <a:path w="482600" h="464820">
                <a:moveTo>
                  <a:pt x="116662" y="314617"/>
                </a:moveTo>
                <a:lnTo>
                  <a:pt x="109458" y="312556"/>
                </a:lnTo>
                <a:lnTo>
                  <a:pt x="94821" y="311143"/>
                </a:lnTo>
                <a:lnTo>
                  <a:pt x="65005" y="310330"/>
                </a:lnTo>
                <a:lnTo>
                  <a:pt x="12268" y="310070"/>
                </a:lnTo>
              </a:path>
              <a:path w="482600" h="464820">
                <a:moveTo>
                  <a:pt x="120827" y="330073"/>
                </a:moveTo>
                <a:lnTo>
                  <a:pt x="120142" y="325247"/>
                </a:lnTo>
                <a:lnTo>
                  <a:pt x="118757" y="320090"/>
                </a:lnTo>
                <a:lnTo>
                  <a:pt x="116662" y="314617"/>
                </a:lnTo>
              </a:path>
              <a:path w="482600" h="464820">
                <a:moveTo>
                  <a:pt x="476834" y="460381"/>
                </a:moveTo>
                <a:lnTo>
                  <a:pt x="471874" y="462011"/>
                </a:lnTo>
                <a:lnTo>
                  <a:pt x="465043" y="463147"/>
                </a:lnTo>
                <a:lnTo>
                  <a:pt x="454015" y="463853"/>
                </a:lnTo>
                <a:lnTo>
                  <a:pt x="436460" y="464191"/>
                </a:lnTo>
              </a:path>
              <a:path w="482600" h="464820">
                <a:moveTo>
                  <a:pt x="18643" y="464096"/>
                </a:moveTo>
                <a:lnTo>
                  <a:pt x="5854" y="462445"/>
                </a:lnTo>
                <a:lnTo>
                  <a:pt x="1536" y="453613"/>
                </a:lnTo>
                <a:lnTo>
                  <a:pt x="292" y="448613"/>
                </a:lnTo>
                <a:lnTo>
                  <a:pt x="0" y="443871"/>
                </a:lnTo>
                <a:lnTo>
                  <a:pt x="38" y="394219"/>
                </a:lnTo>
                <a:lnTo>
                  <a:pt x="174" y="356715"/>
                </a:lnTo>
                <a:lnTo>
                  <a:pt x="410" y="331361"/>
                </a:lnTo>
                <a:lnTo>
                  <a:pt x="749" y="318160"/>
                </a:lnTo>
              </a:path>
              <a:path w="482600" h="464820">
                <a:moveTo>
                  <a:pt x="300228" y="262051"/>
                </a:moveTo>
                <a:lnTo>
                  <a:pt x="278650" y="243268"/>
                </a:lnTo>
                <a:lnTo>
                  <a:pt x="266915" y="243128"/>
                </a:lnTo>
              </a:path>
              <a:path w="482600" h="464820">
                <a:moveTo>
                  <a:pt x="198259" y="243116"/>
                </a:moveTo>
                <a:lnTo>
                  <a:pt x="192379" y="243928"/>
                </a:lnTo>
                <a:lnTo>
                  <a:pt x="188912" y="245211"/>
                </a:lnTo>
                <a:lnTo>
                  <a:pt x="183451" y="248158"/>
                </a:lnTo>
              </a:path>
              <a:path w="482600" h="464820">
                <a:moveTo>
                  <a:pt x="471208" y="145681"/>
                </a:moveTo>
                <a:lnTo>
                  <a:pt x="465371" y="145279"/>
                </a:lnTo>
                <a:lnTo>
                  <a:pt x="457044" y="144986"/>
                </a:lnTo>
                <a:lnTo>
                  <a:pt x="446226" y="144803"/>
                </a:lnTo>
                <a:lnTo>
                  <a:pt x="432917" y="144729"/>
                </a:lnTo>
              </a:path>
              <a:path w="482600" h="464820">
                <a:moveTo>
                  <a:pt x="379437" y="144767"/>
                </a:moveTo>
                <a:lnTo>
                  <a:pt x="360032" y="160896"/>
                </a:lnTo>
                <a:lnTo>
                  <a:pt x="359765" y="178968"/>
                </a:lnTo>
              </a:path>
              <a:path w="482600" h="464820">
                <a:moveTo>
                  <a:pt x="476834" y="460381"/>
                </a:moveTo>
                <a:lnTo>
                  <a:pt x="482184" y="430957"/>
                </a:lnTo>
                <a:lnTo>
                  <a:pt x="482206" y="420832"/>
                </a:lnTo>
              </a:path>
              <a:path w="482600" h="464820">
                <a:moveTo>
                  <a:pt x="482104" y="163283"/>
                </a:moveTo>
                <a:lnTo>
                  <a:pt x="481279" y="158026"/>
                </a:lnTo>
                <a:lnTo>
                  <a:pt x="479653" y="153797"/>
                </a:lnTo>
                <a:lnTo>
                  <a:pt x="475691" y="149136"/>
                </a:lnTo>
                <a:lnTo>
                  <a:pt x="471208" y="145681"/>
                </a:lnTo>
              </a:path>
              <a:path w="482600" h="464820">
                <a:moveTo>
                  <a:pt x="24726" y="221932"/>
                </a:moveTo>
                <a:lnTo>
                  <a:pt x="74637" y="212305"/>
                </a:lnTo>
                <a:lnTo>
                  <a:pt x="116347" y="200064"/>
                </a:lnTo>
                <a:lnTo>
                  <a:pt x="157581" y="185889"/>
                </a:lnTo>
                <a:lnTo>
                  <a:pt x="193681" y="169286"/>
                </a:lnTo>
                <a:lnTo>
                  <a:pt x="244708" y="140619"/>
                </a:lnTo>
                <a:lnTo>
                  <a:pt x="278663" y="117527"/>
                </a:lnTo>
                <a:lnTo>
                  <a:pt x="312832" y="90947"/>
                </a:lnTo>
                <a:lnTo>
                  <a:pt x="344510" y="63185"/>
                </a:lnTo>
                <a:lnTo>
                  <a:pt x="378933" y="28870"/>
                </a:lnTo>
                <a:lnTo>
                  <a:pt x="391442" y="15561"/>
                </a:lnTo>
                <a:lnTo>
                  <a:pt x="405968" y="0"/>
                </a:lnTo>
              </a:path>
              <a:path w="482600" h="464820">
                <a:moveTo>
                  <a:pt x="12268" y="310070"/>
                </a:moveTo>
                <a:lnTo>
                  <a:pt x="749" y="318160"/>
                </a:lnTo>
              </a:path>
              <a:path w="482600" h="464820">
                <a:moveTo>
                  <a:pt x="183451" y="248158"/>
                </a:moveTo>
                <a:lnTo>
                  <a:pt x="179882" y="464160"/>
                </a:lnTo>
              </a:path>
              <a:path w="482600" h="464820">
                <a:moveTo>
                  <a:pt x="120878" y="464155"/>
                </a:moveTo>
                <a:lnTo>
                  <a:pt x="120827" y="330073"/>
                </a:lnTo>
              </a:path>
              <a:path w="482600" h="464820">
                <a:moveTo>
                  <a:pt x="436460" y="464191"/>
                </a:moveTo>
                <a:lnTo>
                  <a:pt x="18643" y="464096"/>
                </a:lnTo>
              </a:path>
              <a:path w="482600" h="464820">
                <a:moveTo>
                  <a:pt x="300189" y="464176"/>
                </a:moveTo>
                <a:lnTo>
                  <a:pt x="300228" y="262051"/>
                </a:lnTo>
              </a:path>
              <a:path w="482600" h="464820">
                <a:moveTo>
                  <a:pt x="266915" y="243128"/>
                </a:moveTo>
                <a:lnTo>
                  <a:pt x="198259" y="243116"/>
                </a:lnTo>
              </a:path>
              <a:path w="482600" h="464820">
                <a:moveTo>
                  <a:pt x="432917" y="144729"/>
                </a:moveTo>
                <a:lnTo>
                  <a:pt x="379437" y="144767"/>
                </a:lnTo>
              </a:path>
              <a:path w="482600" h="464820">
                <a:moveTo>
                  <a:pt x="359765" y="178968"/>
                </a:moveTo>
                <a:lnTo>
                  <a:pt x="359752" y="464181"/>
                </a:lnTo>
              </a:path>
              <a:path w="482600" h="464820">
                <a:moveTo>
                  <a:pt x="482206" y="420832"/>
                </a:moveTo>
                <a:lnTo>
                  <a:pt x="482104" y="163283"/>
                </a:lnTo>
              </a:path>
              <a:path w="482600" h="464820">
                <a:moveTo>
                  <a:pt x="328129" y="1879"/>
                </a:moveTo>
                <a:lnTo>
                  <a:pt x="405968" y="0"/>
                </a:lnTo>
                <a:lnTo>
                  <a:pt x="406006" y="28168"/>
                </a:lnTo>
                <a:lnTo>
                  <a:pt x="406095" y="77812"/>
                </a:lnTo>
              </a:path>
            </a:pathLst>
          </a:custGeom>
          <a:ln w="21358">
            <a:solidFill>
              <a:srgbClr val="A85B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671934" y="1666875"/>
            <a:ext cx="4925695" cy="546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14" dirty="0">
                <a:solidFill>
                  <a:srgbClr val="DAD8E9"/>
                </a:solidFill>
                <a:latin typeface="Trebuchet MS"/>
                <a:cs typeface="Trebuchet MS"/>
              </a:rPr>
              <a:t>Reduce</a:t>
            </a:r>
            <a:r>
              <a:rPr sz="1650" spc="12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100" dirty="0">
                <a:solidFill>
                  <a:srgbClr val="DAD8E9"/>
                </a:solidFill>
                <a:latin typeface="Trebuchet MS"/>
                <a:cs typeface="Trebuchet MS"/>
              </a:rPr>
              <a:t>Stockout</a:t>
            </a:r>
            <a:r>
              <a:rPr sz="1650" cap="small" spc="100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12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135" dirty="0">
                <a:solidFill>
                  <a:srgbClr val="DAD8E9"/>
                </a:solidFill>
                <a:latin typeface="Trebuchet MS"/>
                <a:cs typeface="Trebuchet MS"/>
              </a:rPr>
              <a:t>by</a:t>
            </a:r>
            <a:r>
              <a:rPr sz="1650" spc="12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215" dirty="0">
                <a:solidFill>
                  <a:srgbClr val="DAD8E9"/>
                </a:solidFill>
                <a:latin typeface="Trebuchet MS"/>
                <a:cs typeface="Trebuchet MS"/>
              </a:rPr>
              <a:t>25%</a:t>
            </a:r>
            <a:endParaRPr sz="1650" dirty="0">
              <a:latin typeface="Trebuchet MS"/>
              <a:cs typeface="Trebuchet MS"/>
            </a:endParaRPr>
          </a:p>
          <a:p>
            <a:pPr marL="12700" marR="643255">
              <a:lnSpc>
                <a:spcPct val="133300"/>
              </a:lnSpc>
              <a:spcBef>
                <a:spcPts val="570"/>
              </a:spcBef>
            </a:pPr>
            <a:r>
              <a:rPr sz="1500" spc="-80" dirty="0">
                <a:solidFill>
                  <a:srgbClr val="DAD8E9"/>
                </a:solidFill>
                <a:latin typeface="Tahoma"/>
                <a:cs typeface="Tahoma"/>
              </a:rPr>
              <a:t>Improve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customer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satisfaction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capture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more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sales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opportunities</a:t>
            </a: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with</a:t>
            </a:r>
            <a:r>
              <a:rPr sz="1500" spc="-7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optimal</a:t>
            </a:r>
            <a:r>
              <a:rPr sz="1500" spc="-7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inventory</a:t>
            </a:r>
            <a:r>
              <a:rPr sz="1500" spc="-7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availability</a:t>
            </a:r>
            <a:endParaRPr sz="15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5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50" spc="100" dirty="0">
                <a:solidFill>
                  <a:srgbClr val="DAD8E9"/>
                </a:solidFill>
                <a:latin typeface="Trebuchet MS"/>
                <a:cs typeface="Trebuchet MS"/>
              </a:rPr>
              <a:t>Sla</a:t>
            </a:r>
            <a:r>
              <a:rPr sz="1650" cap="small" spc="100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100" dirty="0">
                <a:solidFill>
                  <a:srgbClr val="DAD8E9"/>
                </a:solidFill>
                <a:latin typeface="Trebuchet MS"/>
                <a:cs typeface="Trebuchet MS"/>
              </a:rPr>
              <a:t>h</a:t>
            </a:r>
            <a:r>
              <a:rPr sz="1650" spc="114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125" dirty="0">
                <a:solidFill>
                  <a:srgbClr val="DAD8E9"/>
                </a:solidFill>
                <a:latin typeface="Trebuchet MS"/>
                <a:cs typeface="Trebuchet MS"/>
              </a:rPr>
              <a:t>Exce</a:t>
            </a:r>
            <a:r>
              <a:rPr sz="1650" cap="small" spc="125" dirty="0">
                <a:solidFill>
                  <a:srgbClr val="DAD8E9"/>
                </a:solidFill>
                <a:latin typeface="Trebuchet MS"/>
                <a:cs typeface="Trebuchet MS"/>
              </a:rPr>
              <a:t>ss</a:t>
            </a:r>
            <a:r>
              <a:rPr sz="1650" spc="12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114" dirty="0">
                <a:solidFill>
                  <a:srgbClr val="DAD8E9"/>
                </a:solidFill>
                <a:latin typeface="Trebuchet MS"/>
                <a:cs typeface="Trebuchet MS"/>
              </a:rPr>
              <a:t>Co</a:t>
            </a:r>
            <a:r>
              <a:rPr sz="1650" cap="small" spc="114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114" dirty="0">
                <a:solidFill>
                  <a:srgbClr val="DAD8E9"/>
                </a:solidFill>
                <a:latin typeface="Trebuchet MS"/>
                <a:cs typeface="Trebuchet MS"/>
              </a:rPr>
              <a:t>t</a:t>
            </a:r>
            <a:r>
              <a:rPr sz="1650" cap="small" spc="114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endParaRPr sz="1650" dirty="0">
              <a:latin typeface="Trebuchet MS"/>
              <a:cs typeface="Trebuchet MS"/>
            </a:endParaRPr>
          </a:p>
          <a:p>
            <a:pPr marL="12700" marR="274955">
              <a:lnSpc>
                <a:spcPct val="137500"/>
              </a:lnSpc>
              <a:spcBef>
                <a:spcPts val="495"/>
              </a:spcBef>
            </a:pP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Eliminate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wasteful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holding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costs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with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intelligent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stock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level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optimization</a:t>
            </a: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predictive</a:t>
            </a: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replenishment</a:t>
            </a:r>
            <a:endParaRPr sz="15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5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50" spc="70" dirty="0">
                <a:solidFill>
                  <a:srgbClr val="DAD8E9"/>
                </a:solidFill>
                <a:latin typeface="Trebuchet MS"/>
                <a:cs typeface="Trebuchet MS"/>
              </a:rPr>
              <a:t>Accelerate</a:t>
            </a:r>
            <a:r>
              <a:rPr sz="1650" spc="14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AD8E9"/>
                </a:solidFill>
                <a:latin typeface="Trebuchet MS"/>
                <a:cs typeface="Trebuchet MS"/>
              </a:rPr>
              <a:t>Fulfillment</a:t>
            </a:r>
            <a:endParaRPr sz="1650" dirty="0">
              <a:latin typeface="Trebuchet MS"/>
              <a:cs typeface="Trebuchet MS"/>
            </a:endParaRPr>
          </a:p>
          <a:p>
            <a:pPr marL="12700" marR="400685">
              <a:lnSpc>
                <a:spcPct val="133300"/>
              </a:lnSpc>
              <a:spcBef>
                <a:spcPts val="570"/>
              </a:spcBef>
            </a:pP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Speed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up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order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processing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warehouse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efficiency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with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automated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workflows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8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smart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routing</a:t>
            </a:r>
            <a:endParaRPr sz="15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5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50" spc="55" dirty="0">
                <a:solidFill>
                  <a:srgbClr val="DAD8E9"/>
                </a:solidFill>
                <a:latin typeface="Trebuchet MS"/>
                <a:cs typeface="Trebuchet MS"/>
              </a:rPr>
              <a:t>Effortle</a:t>
            </a:r>
            <a:r>
              <a:rPr sz="1650" cap="small" spc="55" dirty="0">
                <a:solidFill>
                  <a:srgbClr val="DAD8E9"/>
                </a:solidFill>
                <a:latin typeface="Trebuchet MS"/>
                <a:cs typeface="Trebuchet MS"/>
              </a:rPr>
              <a:t>ss</a:t>
            </a:r>
            <a:r>
              <a:rPr sz="1650" spc="13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80" dirty="0">
                <a:solidFill>
                  <a:srgbClr val="DAD8E9"/>
                </a:solidFill>
                <a:latin typeface="Trebuchet MS"/>
                <a:cs typeface="Trebuchet MS"/>
              </a:rPr>
              <a:t>Scaling</a:t>
            </a:r>
            <a:endParaRPr sz="1650" dirty="0">
              <a:latin typeface="Trebuchet MS"/>
              <a:cs typeface="Trebuchet MS"/>
            </a:endParaRPr>
          </a:p>
          <a:p>
            <a:pPr marL="12700" marR="5080">
              <a:lnSpc>
                <a:spcPct val="133300"/>
              </a:lnSpc>
              <a:spcBef>
                <a:spcPts val="645"/>
              </a:spcBef>
            </a:pP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Grow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seamlessly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from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small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business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operations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DAD8E9"/>
                </a:solidFill>
                <a:latin typeface="Tahoma"/>
                <a:cs typeface="Tahoma"/>
              </a:rPr>
              <a:t>to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enterprise-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level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inventory</a:t>
            </a:r>
            <a:r>
              <a:rPr sz="1500" spc="-8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management</a:t>
            </a:r>
            <a:endParaRPr sz="15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7077074"/>
          </a:xfrm>
          <a:custGeom>
            <a:avLst/>
            <a:gdLst/>
            <a:ahLst/>
            <a:cxnLst/>
            <a:rect l="l" t="t" r="r" b="b"/>
            <a:pathLst>
              <a:path w="11430000" h="7524750">
                <a:moveTo>
                  <a:pt x="11430000" y="0"/>
                </a:moveTo>
                <a:lnTo>
                  <a:pt x="0" y="0"/>
                </a:lnTo>
                <a:lnTo>
                  <a:pt x="0" y="7524750"/>
                </a:lnTo>
                <a:lnTo>
                  <a:pt x="11430000" y="75247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A0C2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45" dirty="0"/>
              <a:t>Competitive</a:t>
            </a:r>
            <a:r>
              <a:rPr spc="210" dirty="0"/>
              <a:t> </a:t>
            </a:r>
            <a:r>
              <a:rPr spc="280" dirty="0"/>
              <a:t>Edge</a:t>
            </a:r>
            <a:r>
              <a:rPr spc="220" dirty="0"/>
              <a:t> </a:t>
            </a:r>
            <a:r>
              <a:rPr spc="254" dirty="0"/>
              <a:t>&amp;</a:t>
            </a:r>
            <a:r>
              <a:rPr spc="220" dirty="0"/>
              <a:t> </a:t>
            </a:r>
            <a:r>
              <a:rPr spc="185" dirty="0"/>
              <a:t>Market</a:t>
            </a:r>
            <a:r>
              <a:rPr spc="220" dirty="0"/>
              <a:t> </a:t>
            </a:r>
            <a:r>
              <a:rPr spc="180" dirty="0"/>
              <a:t>Opportunity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72" y="1498922"/>
            <a:ext cx="2905280" cy="290526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183187" y="2610294"/>
            <a:ext cx="1063625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spc="600" dirty="0">
                <a:solidFill>
                  <a:srgbClr val="DAD8E9"/>
                </a:solidFill>
                <a:latin typeface="Trebuchet MS"/>
                <a:cs typeface="Trebuchet MS"/>
              </a:rPr>
              <a:t>30%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6750" y="6372222"/>
            <a:ext cx="6677025" cy="323850"/>
          </a:xfrm>
          <a:custGeom>
            <a:avLst/>
            <a:gdLst/>
            <a:ahLst/>
            <a:cxnLst/>
            <a:rect l="l" t="t" r="r" b="b"/>
            <a:pathLst>
              <a:path w="6677025" h="323850">
                <a:moveTo>
                  <a:pt x="6656108" y="0"/>
                </a:moveTo>
                <a:lnTo>
                  <a:pt x="20915" y="0"/>
                </a:lnTo>
                <a:lnTo>
                  <a:pt x="17839" y="614"/>
                </a:lnTo>
                <a:lnTo>
                  <a:pt x="0" y="20914"/>
                </a:lnTo>
                <a:lnTo>
                  <a:pt x="0" y="299739"/>
                </a:lnTo>
                <a:lnTo>
                  <a:pt x="0" y="302939"/>
                </a:lnTo>
                <a:lnTo>
                  <a:pt x="20915" y="323850"/>
                </a:lnTo>
                <a:lnTo>
                  <a:pt x="6656108" y="323850"/>
                </a:lnTo>
                <a:lnTo>
                  <a:pt x="6677025" y="302939"/>
                </a:lnTo>
                <a:lnTo>
                  <a:pt x="6677025" y="20914"/>
                </a:lnTo>
                <a:lnTo>
                  <a:pt x="6659181" y="614"/>
                </a:lnTo>
                <a:lnTo>
                  <a:pt x="6656108" y="0"/>
                </a:lnTo>
                <a:close/>
              </a:path>
            </a:pathLst>
          </a:custGeom>
          <a:solidFill>
            <a:srgbClr val="A85B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2368" y="4621212"/>
            <a:ext cx="9723120" cy="2326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2270" algn="ctr">
              <a:lnSpc>
                <a:spcPct val="100000"/>
              </a:lnSpc>
              <a:spcBef>
                <a:spcPts val="135"/>
              </a:spcBef>
            </a:pPr>
            <a:r>
              <a:rPr sz="1650" spc="114" dirty="0">
                <a:solidFill>
                  <a:srgbClr val="DAD8E9"/>
                </a:solidFill>
                <a:latin typeface="Trebuchet MS"/>
                <a:cs typeface="Trebuchet MS"/>
              </a:rPr>
              <a:t>Annual </a:t>
            </a:r>
            <a:r>
              <a:rPr sz="1650" spc="75" dirty="0">
                <a:solidFill>
                  <a:srgbClr val="DAD8E9"/>
                </a:solidFill>
                <a:latin typeface="Trebuchet MS"/>
                <a:cs typeface="Trebuchet MS"/>
              </a:rPr>
              <a:t>Growth</a:t>
            </a:r>
            <a:r>
              <a:rPr sz="1650" spc="12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30" dirty="0">
                <a:solidFill>
                  <a:srgbClr val="DAD8E9"/>
                </a:solidFill>
                <a:latin typeface="Trebuchet MS"/>
                <a:cs typeface="Trebuchet MS"/>
              </a:rPr>
              <a:t>Rate</a:t>
            </a:r>
            <a:endParaRPr sz="1650" dirty="0">
              <a:latin typeface="Trebuchet MS"/>
              <a:cs typeface="Trebuchet MS"/>
            </a:endParaRPr>
          </a:p>
          <a:p>
            <a:pPr marL="382270" algn="ctr">
              <a:lnSpc>
                <a:spcPct val="100000"/>
              </a:lnSpc>
              <a:spcBef>
                <a:spcPts val="1170"/>
              </a:spcBef>
            </a:pPr>
            <a:r>
              <a:rPr sz="1500" spc="-125" dirty="0">
                <a:solidFill>
                  <a:srgbClr val="DAD8E9"/>
                </a:solidFill>
                <a:latin typeface="Tahoma"/>
                <a:cs typeface="Tahoma"/>
              </a:rPr>
              <a:t>AI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inventory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management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market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expansion</a:t>
            </a:r>
            <a:endParaRPr sz="1500" dirty="0">
              <a:latin typeface="Tahoma"/>
              <a:cs typeface="Tahoma"/>
            </a:endParaRPr>
          </a:p>
          <a:p>
            <a:pPr marL="12700" marR="262890">
              <a:lnSpc>
                <a:spcPct val="133300"/>
              </a:lnSpc>
              <a:spcBef>
                <a:spcPts val="1725"/>
              </a:spcBef>
            </a:pP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The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25" dirty="0">
                <a:solidFill>
                  <a:srgbClr val="DAD8E9"/>
                </a:solidFill>
                <a:latin typeface="Tahoma"/>
                <a:cs typeface="Tahoma"/>
              </a:rPr>
              <a:t>AI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inventory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management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market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is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projected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DAD8E9"/>
                </a:solidFill>
                <a:latin typeface="Tahoma"/>
                <a:cs typeface="Tahoma"/>
              </a:rPr>
              <a:t>to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reach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b="1" spc="-55" dirty="0">
                <a:solidFill>
                  <a:srgbClr val="DAD8E9"/>
                </a:solidFill>
                <a:latin typeface="Arial"/>
                <a:cs typeface="Arial"/>
              </a:rPr>
              <a:t>$9.6</a:t>
            </a:r>
            <a:r>
              <a:rPr sz="1500" b="1" spc="-40" dirty="0">
                <a:solidFill>
                  <a:srgbClr val="DAD8E9"/>
                </a:solidFill>
                <a:latin typeface="Arial"/>
                <a:cs typeface="Arial"/>
              </a:rPr>
              <a:t> </a:t>
            </a:r>
            <a:r>
              <a:rPr sz="1500" b="1" spc="-35" dirty="0">
                <a:solidFill>
                  <a:srgbClr val="DAD8E9"/>
                </a:solidFill>
                <a:latin typeface="Arial"/>
                <a:cs typeface="Arial"/>
              </a:rPr>
              <a:t>billion </a:t>
            </a:r>
            <a:r>
              <a:rPr sz="1500" b="1" spc="-20" dirty="0">
                <a:solidFill>
                  <a:srgbClr val="DAD8E9"/>
                </a:solidFill>
                <a:latin typeface="Arial"/>
                <a:cs typeface="Arial"/>
              </a:rPr>
              <a:t>in</a:t>
            </a:r>
            <a:r>
              <a:rPr sz="1500" b="1" spc="-40" dirty="0">
                <a:solidFill>
                  <a:srgbClr val="DAD8E9"/>
                </a:solidFill>
                <a:latin typeface="Arial"/>
                <a:cs typeface="Arial"/>
              </a:rPr>
              <a:t> </a:t>
            </a:r>
            <a:r>
              <a:rPr sz="1500" b="1" spc="-80" dirty="0">
                <a:solidFill>
                  <a:srgbClr val="DAD8E9"/>
                </a:solidFill>
                <a:latin typeface="Arial"/>
                <a:cs typeface="Arial"/>
              </a:rPr>
              <a:t>2025</a:t>
            </a:r>
            <a:r>
              <a:rPr sz="1500" spc="-80" dirty="0">
                <a:solidFill>
                  <a:srgbClr val="DAD8E9"/>
                </a:solidFill>
                <a:latin typeface="Tahoma"/>
                <a:cs typeface="Tahoma"/>
              </a:rPr>
              <a:t>,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growing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at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an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impressive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30%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annually.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Industry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leaders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like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Zara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80" dirty="0">
                <a:solidFill>
                  <a:srgbClr val="DAD8E9"/>
                </a:solidFill>
                <a:latin typeface="Tahoma"/>
                <a:cs typeface="Tahoma"/>
              </a:rPr>
              <a:t>have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already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cut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their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logistics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turnaround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time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DAD8E9"/>
                </a:solidFill>
                <a:latin typeface="Tahoma"/>
                <a:cs typeface="Tahoma"/>
              </a:rPr>
              <a:t>to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just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48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hours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using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70" dirty="0">
                <a:solidFill>
                  <a:srgbClr val="DAD8E9"/>
                </a:solidFill>
                <a:latin typeface="Tahoma"/>
                <a:cs typeface="Tahoma"/>
              </a:rPr>
              <a:t>AI-</a:t>
            </a: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driven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systems.</a:t>
            </a:r>
            <a:endParaRPr sz="1500" dirty="0">
              <a:latin typeface="Tahoma"/>
              <a:cs typeface="Tahoma"/>
            </a:endParaRPr>
          </a:p>
          <a:p>
            <a:pPr marL="12700" marR="5080">
              <a:lnSpc>
                <a:spcPct val="133300"/>
              </a:lnSpc>
              <a:spcBef>
                <a:spcPts val="1800"/>
              </a:spcBef>
            </a:pP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SmartShelfX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positions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your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business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at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the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forefront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of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this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AI-</a:t>
            </a:r>
            <a:r>
              <a:rPr sz="1500" spc="-70" dirty="0">
                <a:solidFill>
                  <a:srgbClr val="DAD8E9"/>
                </a:solidFill>
                <a:latin typeface="Tahoma"/>
                <a:cs typeface="Tahoma"/>
              </a:rPr>
              <a:t>driven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transformation,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giving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you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the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competitive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advantage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needed</a:t>
            </a:r>
            <a:r>
              <a:rPr sz="1500" spc="-114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DAD8E9"/>
                </a:solidFill>
                <a:latin typeface="Tahoma"/>
                <a:cs typeface="Tahoma"/>
              </a:rPr>
              <a:t>to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thrive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in</a:t>
            </a:r>
            <a:r>
              <a:rPr sz="1500" spc="-114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modern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retail.</a:t>
            </a:r>
            <a:endParaRPr sz="15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A0C2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9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40" dirty="0"/>
              <a:t>Demo</a:t>
            </a:r>
            <a:r>
              <a:rPr spc="220" dirty="0"/>
              <a:t> </a:t>
            </a:r>
            <a:r>
              <a:rPr spc="254" dirty="0"/>
              <a:t>&amp;</a:t>
            </a:r>
            <a:r>
              <a:rPr spc="220" dirty="0"/>
              <a:t> </a:t>
            </a:r>
            <a:r>
              <a:rPr spc="175" dirty="0"/>
              <a:t>Deployment</a:t>
            </a:r>
            <a:r>
              <a:rPr spc="225" dirty="0"/>
              <a:t> </a:t>
            </a:r>
            <a:r>
              <a:rPr spc="150" dirty="0"/>
              <a:t>Highlight</a:t>
            </a:r>
            <a:r>
              <a:rPr cap="small" spc="150" dirty="0"/>
              <a:t>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47700" y="1885949"/>
            <a:ext cx="3257550" cy="3495675"/>
            <a:chOff x="647700" y="1885949"/>
            <a:chExt cx="3257550" cy="3495675"/>
          </a:xfrm>
        </p:grpSpPr>
        <p:sp>
          <p:nvSpPr>
            <p:cNvPr id="5" name="object 5"/>
            <p:cNvSpPr/>
            <p:nvPr/>
          </p:nvSpPr>
          <p:spPr>
            <a:xfrm>
              <a:off x="676275" y="1900237"/>
              <a:ext cx="3215005" cy="3467100"/>
            </a:xfrm>
            <a:custGeom>
              <a:avLst/>
              <a:gdLst/>
              <a:ahLst/>
              <a:cxnLst/>
              <a:rect l="l" t="t" r="r" b="b"/>
              <a:pathLst>
                <a:path w="3215004" h="3467100">
                  <a:moveTo>
                    <a:pt x="3164954" y="0"/>
                  </a:moveTo>
                  <a:lnTo>
                    <a:pt x="106794" y="0"/>
                  </a:lnTo>
                  <a:lnTo>
                    <a:pt x="99362" y="635"/>
                  </a:lnTo>
                  <a:lnTo>
                    <a:pt x="57040" y="13208"/>
                  </a:lnTo>
                  <a:lnTo>
                    <a:pt x="23430" y="38989"/>
                  </a:lnTo>
                  <a:lnTo>
                    <a:pt x="3661" y="74053"/>
                  </a:lnTo>
                  <a:lnTo>
                    <a:pt x="0" y="93446"/>
                  </a:lnTo>
                  <a:lnTo>
                    <a:pt x="0" y="3367088"/>
                  </a:lnTo>
                  <a:lnTo>
                    <a:pt x="0" y="3373652"/>
                  </a:lnTo>
                  <a:lnTo>
                    <a:pt x="11573" y="3411424"/>
                  </a:lnTo>
                  <a:lnTo>
                    <a:pt x="38784" y="3442450"/>
                  </a:lnTo>
                  <a:lnTo>
                    <a:pt x="77495" y="3461995"/>
                  </a:lnTo>
                  <a:lnTo>
                    <a:pt x="106794" y="3467101"/>
                  </a:lnTo>
                  <a:lnTo>
                    <a:pt x="3164954" y="3467101"/>
                  </a:lnTo>
                  <a:lnTo>
                    <a:pt x="3201568" y="3449038"/>
                  </a:lnTo>
                  <a:lnTo>
                    <a:pt x="3214687" y="3417373"/>
                  </a:lnTo>
                  <a:lnTo>
                    <a:pt x="3214687" y="49720"/>
                  </a:lnTo>
                  <a:lnTo>
                    <a:pt x="3196628" y="13119"/>
                  </a:lnTo>
                  <a:lnTo>
                    <a:pt x="3168421" y="342"/>
                  </a:lnTo>
                  <a:lnTo>
                    <a:pt x="3164954" y="0"/>
                  </a:lnTo>
                  <a:close/>
                </a:path>
              </a:pathLst>
            </a:custGeom>
            <a:solidFill>
              <a:srgbClr val="0A0C2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6262" y="1885962"/>
              <a:ext cx="3228975" cy="3495675"/>
            </a:xfrm>
            <a:custGeom>
              <a:avLst/>
              <a:gdLst/>
              <a:ahLst/>
              <a:cxnLst/>
              <a:rect l="l" t="t" r="r" b="b"/>
              <a:pathLst>
                <a:path w="3228975" h="3495675">
                  <a:moveTo>
                    <a:pt x="3228937" y="66662"/>
                  </a:moveTo>
                  <a:lnTo>
                    <a:pt x="3217608" y="29984"/>
                  </a:lnTo>
                  <a:lnTo>
                    <a:pt x="3209645" y="20281"/>
                  </a:lnTo>
                  <a:lnTo>
                    <a:pt x="3174644" y="1282"/>
                  </a:lnTo>
                  <a:lnTo>
                    <a:pt x="3161461" y="0"/>
                  </a:lnTo>
                  <a:lnTo>
                    <a:pt x="114300" y="0"/>
                  </a:lnTo>
                  <a:lnTo>
                    <a:pt x="70561" y="8699"/>
                  </a:lnTo>
                  <a:lnTo>
                    <a:pt x="33477" y="33477"/>
                  </a:lnTo>
                  <a:lnTo>
                    <a:pt x="8712" y="70561"/>
                  </a:lnTo>
                  <a:lnTo>
                    <a:pt x="0" y="114300"/>
                  </a:lnTo>
                  <a:lnTo>
                    <a:pt x="546" y="105854"/>
                  </a:lnTo>
                  <a:lnTo>
                    <a:pt x="2184" y="97574"/>
                  </a:lnTo>
                  <a:lnTo>
                    <a:pt x="25908" y="59931"/>
                  </a:lnTo>
                  <a:lnTo>
                    <a:pt x="60375" y="38696"/>
                  </a:lnTo>
                  <a:lnTo>
                    <a:pt x="103047" y="28981"/>
                  </a:lnTo>
                  <a:lnTo>
                    <a:pt x="114300" y="28575"/>
                  </a:lnTo>
                  <a:lnTo>
                    <a:pt x="3161461" y="28575"/>
                  </a:lnTo>
                  <a:lnTo>
                    <a:pt x="3197555" y="52565"/>
                  </a:lnTo>
                  <a:lnTo>
                    <a:pt x="3200323" y="66662"/>
                  </a:lnTo>
                  <a:lnTo>
                    <a:pt x="3200323" y="3429000"/>
                  </a:lnTo>
                  <a:lnTo>
                    <a:pt x="3199790" y="3434804"/>
                  </a:lnTo>
                  <a:lnTo>
                    <a:pt x="3199688" y="3435934"/>
                  </a:lnTo>
                  <a:lnTo>
                    <a:pt x="3169234" y="3466376"/>
                  </a:lnTo>
                  <a:lnTo>
                    <a:pt x="3161461" y="3467100"/>
                  </a:lnTo>
                  <a:lnTo>
                    <a:pt x="114300" y="3467100"/>
                  </a:lnTo>
                  <a:lnTo>
                    <a:pt x="70980" y="3460673"/>
                  </a:lnTo>
                  <a:lnTo>
                    <a:pt x="33477" y="3441979"/>
                  </a:lnTo>
                  <a:lnTo>
                    <a:pt x="4902" y="3406216"/>
                  </a:lnTo>
                  <a:lnTo>
                    <a:pt x="0" y="3381375"/>
                  </a:lnTo>
                  <a:lnTo>
                    <a:pt x="546" y="3392627"/>
                  </a:lnTo>
                  <a:lnTo>
                    <a:pt x="2184" y="3403676"/>
                  </a:lnTo>
                  <a:lnTo>
                    <a:pt x="4826" y="3414166"/>
                  </a:lnTo>
                  <a:lnTo>
                    <a:pt x="4902" y="3414496"/>
                  </a:lnTo>
                  <a:lnTo>
                    <a:pt x="25908" y="3453841"/>
                  </a:lnTo>
                  <a:lnTo>
                    <a:pt x="60375" y="3482149"/>
                  </a:lnTo>
                  <a:lnTo>
                    <a:pt x="103047" y="3495129"/>
                  </a:lnTo>
                  <a:lnTo>
                    <a:pt x="114300" y="3495675"/>
                  </a:lnTo>
                  <a:lnTo>
                    <a:pt x="3161461" y="3495675"/>
                  </a:lnTo>
                  <a:lnTo>
                    <a:pt x="3198990" y="3484295"/>
                  </a:lnTo>
                  <a:lnTo>
                    <a:pt x="3209658" y="3475393"/>
                  </a:lnTo>
                  <a:lnTo>
                    <a:pt x="3213684" y="3470960"/>
                  </a:lnTo>
                  <a:lnTo>
                    <a:pt x="3228581" y="3435299"/>
                  </a:lnTo>
                  <a:lnTo>
                    <a:pt x="3228657" y="3434804"/>
                  </a:lnTo>
                  <a:lnTo>
                    <a:pt x="3228937" y="3429000"/>
                  </a:lnTo>
                  <a:lnTo>
                    <a:pt x="3228937" y="66662"/>
                  </a:lnTo>
                  <a:close/>
                </a:path>
              </a:pathLst>
            </a:custGeom>
            <a:solidFill>
              <a:srgbClr val="6D44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7700" y="1885949"/>
              <a:ext cx="114300" cy="3495675"/>
            </a:xfrm>
            <a:custGeom>
              <a:avLst/>
              <a:gdLst/>
              <a:ahLst/>
              <a:cxnLst/>
              <a:rect l="l" t="t" r="r" b="b"/>
              <a:pathLst>
                <a:path w="114300" h="3495675">
                  <a:moveTo>
                    <a:pt x="114300" y="0"/>
                  </a:moveTo>
                  <a:lnTo>
                    <a:pt x="63073" y="0"/>
                  </a:lnTo>
                  <a:lnTo>
                    <a:pt x="58687" y="431"/>
                  </a:lnTo>
                  <a:lnTo>
                    <a:pt x="22904" y="16637"/>
                  </a:lnTo>
                  <a:lnTo>
                    <a:pt x="2162" y="49987"/>
                  </a:lnTo>
                  <a:lnTo>
                    <a:pt x="0" y="63068"/>
                  </a:lnTo>
                  <a:lnTo>
                    <a:pt x="0" y="3428168"/>
                  </a:lnTo>
                  <a:lnTo>
                    <a:pt x="0" y="3432597"/>
                  </a:lnTo>
                  <a:lnTo>
                    <a:pt x="13840" y="3469358"/>
                  </a:lnTo>
                  <a:lnTo>
                    <a:pt x="45769" y="3492233"/>
                  </a:lnTo>
                  <a:lnTo>
                    <a:pt x="63073" y="3495676"/>
                  </a:lnTo>
                  <a:lnTo>
                    <a:pt x="114300" y="3495676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85B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69566" y="2087562"/>
            <a:ext cx="167386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05" dirty="0">
                <a:solidFill>
                  <a:srgbClr val="DAD8E9"/>
                </a:solidFill>
                <a:latin typeface="Trebuchet MS"/>
                <a:cs typeface="Trebuchet MS"/>
              </a:rPr>
              <a:t>Secure</a:t>
            </a:r>
            <a:r>
              <a:rPr sz="1650" spc="12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65" dirty="0">
                <a:solidFill>
                  <a:srgbClr val="DAD8E9"/>
                </a:solidFill>
                <a:latin typeface="Trebuchet MS"/>
                <a:cs typeface="Trebuchet MS"/>
              </a:rPr>
              <a:t>React</a:t>
            </a:r>
            <a:r>
              <a:rPr sz="1650" spc="12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-25" dirty="0">
                <a:solidFill>
                  <a:srgbClr val="DAD8E9"/>
                </a:solidFill>
                <a:latin typeface="Trebuchet MS"/>
                <a:cs typeface="Trebuchet MS"/>
              </a:rPr>
              <a:t>UI</a:t>
            </a:r>
            <a:endParaRPr sz="165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00125" y="2590799"/>
            <a:ext cx="76200" cy="1143000"/>
            <a:chOff x="1000125" y="2590799"/>
            <a:chExt cx="76200" cy="11430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0125" y="2590799"/>
              <a:ext cx="76200" cy="762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0125" y="2971799"/>
              <a:ext cx="76200" cy="762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0125" y="3657599"/>
              <a:ext cx="76200" cy="762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78089" y="2489993"/>
            <a:ext cx="2020570" cy="257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70" dirty="0">
                <a:solidFill>
                  <a:srgbClr val="DAD8E9"/>
                </a:solidFill>
                <a:latin typeface="Tahoma"/>
                <a:cs typeface="Tahoma"/>
              </a:rPr>
              <a:t>Role-</a:t>
            </a: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based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70" dirty="0">
                <a:solidFill>
                  <a:srgbClr val="DAD8E9"/>
                </a:solidFill>
                <a:latin typeface="Tahoma"/>
                <a:cs typeface="Tahoma"/>
              </a:rPr>
              <a:t>access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control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8089" y="2797651"/>
            <a:ext cx="21863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Real-time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data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updates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and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notifications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78089" y="3483451"/>
            <a:ext cx="24072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Responsive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design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for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desktop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12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mobile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67175" y="1885949"/>
            <a:ext cx="3267075" cy="3495675"/>
            <a:chOff x="4067175" y="1885949"/>
            <a:chExt cx="3267075" cy="3495675"/>
          </a:xfrm>
        </p:grpSpPr>
        <p:sp>
          <p:nvSpPr>
            <p:cNvPr id="17" name="object 17"/>
            <p:cNvSpPr/>
            <p:nvPr/>
          </p:nvSpPr>
          <p:spPr>
            <a:xfrm>
              <a:off x="4095750" y="1900237"/>
              <a:ext cx="3224530" cy="3467100"/>
            </a:xfrm>
            <a:custGeom>
              <a:avLst/>
              <a:gdLst/>
              <a:ahLst/>
              <a:cxnLst/>
              <a:rect l="l" t="t" r="r" b="b"/>
              <a:pathLst>
                <a:path w="3224529" h="3467100">
                  <a:moveTo>
                    <a:pt x="3174479" y="0"/>
                  </a:moveTo>
                  <a:lnTo>
                    <a:pt x="106794" y="0"/>
                  </a:lnTo>
                  <a:lnTo>
                    <a:pt x="99364" y="635"/>
                  </a:lnTo>
                  <a:lnTo>
                    <a:pt x="57035" y="13208"/>
                  </a:lnTo>
                  <a:lnTo>
                    <a:pt x="23431" y="38989"/>
                  </a:lnTo>
                  <a:lnTo>
                    <a:pt x="3657" y="74053"/>
                  </a:lnTo>
                  <a:lnTo>
                    <a:pt x="0" y="93446"/>
                  </a:lnTo>
                  <a:lnTo>
                    <a:pt x="0" y="3367088"/>
                  </a:lnTo>
                  <a:lnTo>
                    <a:pt x="0" y="3373652"/>
                  </a:lnTo>
                  <a:lnTo>
                    <a:pt x="11569" y="3411424"/>
                  </a:lnTo>
                  <a:lnTo>
                    <a:pt x="38785" y="3442450"/>
                  </a:lnTo>
                  <a:lnTo>
                    <a:pt x="77495" y="3461995"/>
                  </a:lnTo>
                  <a:lnTo>
                    <a:pt x="106794" y="3467101"/>
                  </a:lnTo>
                  <a:lnTo>
                    <a:pt x="3174479" y="3467101"/>
                  </a:lnTo>
                  <a:lnTo>
                    <a:pt x="3211093" y="3449038"/>
                  </a:lnTo>
                  <a:lnTo>
                    <a:pt x="3224212" y="3417373"/>
                  </a:lnTo>
                  <a:lnTo>
                    <a:pt x="3224212" y="49720"/>
                  </a:lnTo>
                  <a:lnTo>
                    <a:pt x="3206153" y="13119"/>
                  </a:lnTo>
                  <a:lnTo>
                    <a:pt x="3177946" y="342"/>
                  </a:lnTo>
                  <a:lnTo>
                    <a:pt x="3174479" y="0"/>
                  </a:lnTo>
                  <a:close/>
                </a:path>
              </a:pathLst>
            </a:custGeom>
            <a:solidFill>
              <a:srgbClr val="0A0C2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95737" y="1885962"/>
              <a:ext cx="3238500" cy="3495675"/>
            </a:xfrm>
            <a:custGeom>
              <a:avLst/>
              <a:gdLst/>
              <a:ahLst/>
              <a:cxnLst/>
              <a:rect l="l" t="t" r="r" b="b"/>
              <a:pathLst>
                <a:path w="3238500" h="3495675">
                  <a:moveTo>
                    <a:pt x="3238462" y="66662"/>
                  </a:moveTo>
                  <a:lnTo>
                    <a:pt x="3227133" y="29984"/>
                  </a:lnTo>
                  <a:lnTo>
                    <a:pt x="3219170" y="20281"/>
                  </a:lnTo>
                  <a:lnTo>
                    <a:pt x="3184169" y="1282"/>
                  </a:lnTo>
                  <a:lnTo>
                    <a:pt x="3170986" y="0"/>
                  </a:lnTo>
                  <a:lnTo>
                    <a:pt x="114300" y="0"/>
                  </a:lnTo>
                  <a:lnTo>
                    <a:pt x="70561" y="8699"/>
                  </a:lnTo>
                  <a:lnTo>
                    <a:pt x="33477" y="33477"/>
                  </a:lnTo>
                  <a:lnTo>
                    <a:pt x="8699" y="70561"/>
                  </a:lnTo>
                  <a:lnTo>
                    <a:pt x="0" y="114300"/>
                  </a:lnTo>
                  <a:lnTo>
                    <a:pt x="546" y="105854"/>
                  </a:lnTo>
                  <a:lnTo>
                    <a:pt x="2184" y="97574"/>
                  </a:lnTo>
                  <a:lnTo>
                    <a:pt x="25908" y="59931"/>
                  </a:lnTo>
                  <a:lnTo>
                    <a:pt x="60375" y="38696"/>
                  </a:lnTo>
                  <a:lnTo>
                    <a:pt x="103047" y="28981"/>
                  </a:lnTo>
                  <a:lnTo>
                    <a:pt x="114300" y="28575"/>
                  </a:lnTo>
                  <a:lnTo>
                    <a:pt x="3170986" y="28575"/>
                  </a:lnTo>
                  <a:lnTo>
                    <a:pt x="3207080" y="52565"/>
                  </a:lnTo>
                  <a:lnTo>
                    <a:pt x="3209848" y="66662"/>
                  </a:lnTo>
                  <a:lnTo>
                    <a:pt x="3209848" y="3429000"/>
                  </a:lnTo>
                  <a:lnTo>
                    <a:pt x="3209315" y="3434804"/>
                  </a:lnTo>
                  <a:lnTo>
                    <a:pt x="3209213" y="3435934"/>
                  </a:lnTo>
                  <a:lnTo>
                    <a:pt x="3207080" y="3443109"/>
                  </a:lnTo>
                  <a:lnTo>
                    <a:pt x="3203511" y="3449688"/>
                  </a:lnTo>
                  <a:lnTo>
                    <a:pt x="3198952" y="3455174"/>
                  </a:lnTo>
                  <a:lnTo>
                    <a:pt x="3198520" y="3455695"/>
                  </a:lnTo>
                  <a:lnTo>
                    <a:pt x="3192538" y="3460673"/>
                  </a:lnTo>
                  <a:lnTo>
                    <a:pt x="3185947" y="3464242"/>
                  </a:lnTo>
                  <a:lnTo>
                    <a:pt x="3178759" y="3466376"/>
                  </a:lnTo>
                  <a:lnTo>
                    <a:pt x="3170986" y="3467100"/>
                  </a:lnTo>
                  <a:lnTo>
                    <a:pt x="114300" y="3467100"/>
                  </a:lnTo>
                  <a:lnTo>
                    <a:pt x="70980" y="3460673"/>
                  </a:lnTo>
                  <a:lnTo>
                    <a:pt x="33477" y="3441979"/>
                  </a:lnTo>
                  <a:lnTo>
                    <a:pt x="4902" y="3406216"/>
                  </a:lnTo>
                  <a:lnTo>
                    <a:pt x="0" y="3381375"/>
                  </a:lnTo>
                  <a:lnTo>
                    <a:pt x="546" y="3392627"/>
                  </a:lnTo>
                  <a:lnTo>
                    <a:pt x="2184" y="3403676"/>
                  </a:lnTo>
                  <a:lnTo>
                    <a:pt x="4826" y="3414166"/>
                  </a:lnTo>
                  <a:lnTo>
                    <a:pt x="4902" y="3414496"/>
                  </a:lnTo>
                  <a:lnTo>
                    <a:pt x="25908" y="3453841"/>
                  </a:lnTo>
                  <a:lnTo>
                    <a:pt x="60375" y="3482149"/>
                  </a:lnTo>
                  <a:lnTo>
                    <a:pt x="103047" y="3495129"/>
                  </a:lnTo>
                  <a:lnTo>
                    <a:pt x="114300" y="3495675"/>
                  </a:lnTo>
                  <a:lnTo>
                    <a:pt x="3170986" y="3495675"/>
                  </a:lnTo>
                  <a:lnTo>
                    <a:pt x="3208515" y="3484295"/>
                  </a:lnTo>
                  <a:lnTo>
                    <a:pt x="3219183" y="3475393"/>
                  </a:lnTo>
                  <a:lnTo>
                    <a:pt x="3223209" y="3470960"/>
                  </a:lnTo>
                  <a:lnTo>
                    <a:pt x="3238106" y="3435299"/>
                  </a:lnTo>
                  <a:lnTo>
                    <a:pt x="3238182" y="3434804"/>
                  </a:lnTo>
                  <a:lnTo>
                    <a:pt x="3238462" y="3429000"/>
                  </a:lnTo>
                  <a:lnTo>
                    <a:pt x="3238462" y="66662"/>
                  </a:lnTo>
                  <a:close/>
                </a:path>
              </a:pathLst>
            </a:custGeom>
            <a:solidFill>
              <a:srgbClr val="6D44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67175" y="1885949"/>
              <a:ext cx="114300" cy="3495675"/>
            </a:xfrm>
            <a:custGeom>
              <a:avLst/>
              <a:gdLst/>
              <a:ahLst/>
              <a:cxnLst/>
              <a:rect l="l" t="t" r="r" b="b"/>
              <a:pathLst>
                <a:path w="114300" h="3495675">
                  <a:moveTo>
                    <a:pt x="114300" y="0"/>
                  </a:moveTo>
                  <a:lnTo>
                    <a:pt x="63068" y="0"/>
                  </a:lnTo>
                  <a:lnTo>
                    <a:pt x="58686" y="431"/>
                  </a:lnTo>
                  <a:lnTo>
                    <a:pt x="22910" y="16637"/>
                  </a:lnTo>
                  <a:lnTo>
                    <a:pt x="2159" y="49987"/>
                  </a:lnTo>
                  <a:lnTo>
                    <a:pt x="0" y="63068"/>
                  </a:lnTo>
                  <a:lnTo>
                    <a:pt x="0" y="3428168"/>
                  </a:lnTo>
                  <a:lnTo>
                    <a:pt x="0" y="3432597"/>
                  </a:lnTo>
                  <a:lnTo>
                    <a:pt x="13843" y="3469358"/>
                  </a:lnTo>
                  <a:lnTo>
                    <a:pt x="45770" y="3492233"/>
                  </a:lnTo>
                  <a:lnTo>
                    <a:pt x="63068" y="3495676"/>
                  </a:lnTo>
                  <a:lnTo>
                    <a:pt x="114300" y="3495676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85B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393806" y="2087562"/>
            <a:ext cx="208661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85" dirty="0">
                <a:solidFill>
                  <a:srgbClr val="DAD8E9"/>
                </a:solidFill>
                <a:latin typeface="Trebuchet MS"/>
                <a:cs typeface="Trebuchet MS"/>
              </a:rPr>
              <a:t>Enterpri</a:t>
            </a:r>
            <a:r>
              <a:rPr sz="1650" cap="small" spc="85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85" dirty="0">
                <a:solidFill>
                  <a:srgbClr val="DAD8E9"/>
                </a:solidFill>
                <a:latin typeface="Trebuchet MS"/>
                <a:cs typeface="Trebuchet MS"/>
              </a:rPr>
              <a:t>e</a:t>
            </a:r>
            <a:r>
              <a:rPr sz="1650" spc="14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75" dirty="0">
                <a:solidFill>
                  <a:srgbClr val="DAD8E9"/>
                </a:solidFill>
                <a:latin typeface="Trebuchet MS"/>
                <a:cs typeface="Trebuchet MS"/>
              </a:rPr>
              <a:t>Backend</a:t>
            </a:r>
            <a:endParaRPr sz="165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29125" y="2590799"/>
            <a:ext cx="76200" cy="1447800"/>
            <a:chOff x="4429125" y="2590799"/>
            <a:chExt cx="76200" cy="144780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9125" y="2590799"/>
              <a:ext cx="76200" cy="76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9125" y="3276599"/>
              <a:ext cx="76200" cy="762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9125" y="3962399"/>
              <a:ext cx="76200" cy="762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702327" y="2407126"/>
            <a:ext cx="1916430" cy="654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Secure</a:t>
            </a:r>
            <a:r>
              <a:rPr sz="1500" spc="-114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20" dirty="0">
                <a:solidFill>
                  <a:srgbClr val="DAD8E9"/>
                </a:solidFill>
                <a:latin typeface="Tahoma"/>
                <a:cs typeface="Tahoma"/>
              </a:rPr>
              <a:t>REST</a:t>
            </a:r>
            <a:r>
              <a:rPr sz="1500" spc="-114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APIs</a:t>
            </a:r>
            <a:r>
              <a:rPr sz="1500" spc="-114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with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comprehensive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 auditing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02327" y="3092926"/>
            <a:ext cx="1934845" cy="654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Cloud-</a:t>
            </a:r>
            <a:r>
              <a:rPr sz="1500" spc="-70" dirty="0">
                <a:solidFill>
                  <a:srgbClr val="DAD8E9"/>
                </a:solidFill>
                <a:latin typeface="Tahoma"/>
                <a:cs typeface="Tahoma"/>
              </a:rPr>
              <a:t>ready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Spring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Boot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architecture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02327" y="3788251"/>
            <a:ext cx="1843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Built-</a:t>
            </a: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in</a:t>
            </a: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monitoring</a:t>
            </a:r>
            <a:r>
              <a:rPr sz="1500" spc="-7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logging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496175" y="1885949"/>
            <a:ext cx="3257550" cy="3495675"/>
            <a:chOff x="7496175" y="1885949"/>
            <a:chExt cx="3257550" cy="3495675"/>
          </a:xfrm>
        </p:grpSpPr>
        <p:sp>
          <p:nvSpPr>
            <p:cNvPr id="29" name="object 29"/>
            <p:cNvSpPr/>
            <p:nvPr/>
          </p:nvSpPr>
          <p:spPr>
            <a:xfrm>
              <a:off x="7524750" y="1900237"/>
              <a:ext cx="3215005" cy="3467100"/>
            </a:xfrm>
            <a:custGeom>
              <a:avLst/>
              <a:gdLst/>
              <a:ahLst/>
              <a:cxnLst/>
              <a:rect l="l" t="t" r="r" b="b"/>
              <a:pathLst>
                <a:path w="3215004" h="3467100">
                  <a:moveTo>
                    <a:pt x="3164954" y="0"/>
                  </a:moveTo>
                  <a:lnTo>
                    <a:pt x="106794" y="0"/>
                  </a:lnTo>
                  <a:lnTo>
                    <a:pt x="99364" y="635"/>
                  </a:lnTo>
                  <a:lnTo>
                    <a:pt x="57035" y="13208"/>
                  </a:lnTo>
                  <a:lnTo>
                    <a:pt x="23431" y="38989"/>
                  </a:lnTo>
                  <a:lnTo>
                    <a:pt x="3657" y="74053"/>
                  </a:lnTo>
                  <a:lnTo>
                    <a:pt x="0" y="93446"/>
                  </a:lnTo>
                  <a:lnTo>
                    <a:pt x="0" y="3367088"/>
                  </a:lnTo>
                  <a:lnTo>
                    <a:pt x="0" y="3373652"/>
                  </a:lnTo>
                  <a:lnTo>
                    <a:pt x="11569" y="3411424"/>
                  </a:lnTo>
                  <a:lnTo>
                    <a:pt x="38785" y="3442450"/>
                  </a:lnTo>
                  <a:lnTo>
                    <a:pt x="77495" y="3461995"/>
                  </a:lnTo>
                  <a:lnTo>
                    <a:pt x="106794" y="3467101"/>
                  </a:lnTo>
                  <a:lnTo>
                    <a:pt x="3164954" y="3467101"/>
                  </a:lnTo>
                  <a:lnTo>
                    <a:pt x="3201568" y="3449038"/>
                  </a:lnTo>
                  <a:lnTo>
                    <a:pt x="3214687" y="3417373"/>
                  </a:lnTo>
                  <a:lnTo>
                    <a:pt x="3214687" y="49720"/>
                  </a:lnTo>
                  <a:lnTo>
                    <a:pt x="3196628" y="13119"/>
                  </a:lnTo>
                  <a:lnTo>
                    <a:pt x="3168421" y="342"/>
                  </a:lnTo>
                  <a:lnTo>
                    <a:pt x="3164954" y="0"/>
                  </a:lnTo>
                  <a:close/>
                </a:path>
              </a:pathLst>
            </a:custGeom>
            <a:solidFill>
              <a:srgbClr val="0A0C2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24737" y="1885962"/>
              <a:ext cx="3228975" cy="3495675"/>
            </a:xfrm>
            <a:custGeom>
              <a:avLst/>
              <a:gdLst/>
              <a:ahLst/>
              <a:cxnLst/>
              <a:rect l="l" t="t" r="r" b="b"/>
              <a:pathLst>
                <a:path w="3228975" h="3495675">
                  <a:moveTo>
                    <a:pt x="3228937" y="66662"/>
                  </a:moveTo>
                  <a:lnTo>
                    <a:pt x="3217608" y="29984"/>
                  </a:lnTo>
                  <a:lnTo>
                    <a:pt x="3209645" y="20281"/>
                  </a:lnTo>
                  <a:lnTo>
                    <a:pt x="3174644" y="1282"/>
                  </a:lnTo>
                  <a:lnTo>
                    <a:pt x="3161461" y="0"/>
                  </a:lnTo>
                  <a:lnTo>
                    <a:pt x="114300" y="0"/>
                  </a:lnTo>
                  <a:lnTo>
                    <a:pt x="70561" y="8699"/>
                  </a:lnTo>
                  <a:lnTo>
                    <a:pt x="33477" y="33477"/>
                  </a:lnTo>
                  <a:lnTo>
                    <a:pt x="8699" y="70561"/>
                  </a:lnTo>
                  <a:lnTo>
                    <a:pt x="0" y="114300"/>
                  </a:lnTo>
                  <a:lnTo>
                    <a:pt x="546" y="105854"/>
                  </a:lnTo>
                  <a:lnTo>
                    <a:pt x="2184" y="97574"/>
                  </a:lnTo>
                  <a:lnTo>
                    <a:pt x="25908" y="59931"/>
                  </a:lnTo>
                  <a:lnTo>
                    <a:pt x="60375" y="38696"/>
                  </a:lnTo>
                  <a:lnTo>
                    <a:pt x="103047" y="28981"/>
                  </a:lnTo>
                  <a:lnTo>
                    <a:pt x="114300" y="28575"/>
                  </a:lnTo>
                  <a:lnTo>
                    <a:pt x="3161461" y="28575"/>
                  </a:lnTo>
                  <a:lnTo>
                    <a:pt x="3197555" y="52565"/>
                  </a:lnTo>
                  <a:lnTo>
                    <a:pt x="3200323" y="66662"/>
                  </a:lnTo>
                  <a:lnTo>
                    <a:pt x="3200323" y="3429000"/>
                  </a:lnTo>
                  <a:lnTo>
                    <a:pt x="3199790" y="3434804"/>
                  </a:lnTo>
                  <a:lnTo>
                    <a:pt x="3199688" y="3435934"/>
                  </a:lnTo>
                  <a:lnTo>
                    <a:pt x="3197555" y="3443109"/>
                  </a:lnTo>
                  <a:lnTo>
                    <a:pt x="3193986" y="3449688"/>
                  </a:lnTo>
                  <a:lnTo>
                    <a:pt x="3189427" y="3455174"/>
                  </a:lnTo>
                  <a:lnTo>
                    <a:pt x="3188995" y="3455695"/>
                  </a:lnTo>
                  <a:lnTo>
                    <a:pt x="3183013" y="3460673"/>
                  </a:lnTo>
                  <a:lnTo>
                    <a:pt x="3176422" y="3464242"/>
                  </a:lnTo>
                  <a:lnTo>
                    <a:pt x="3169234" y="3466376"/>
                  </a:lnTo>
                  <a:lnTo>
                    <a:pt x="3161461" y="3467100"/>
                  </a:lnTo>
                  <a:lnTo>
                    <a:pt x="114300" y="3467100"/>
                  </a:lnTo>
                  <a:lnTo>
                    <a:pt x="70980" y="3460673"/>
                  </a:lnTo>
                  <a:lnTo>
                    <a:pt x="33477" y="3441979"/>
                  </a:lnTo>
                  <a:lnTo>
                    <a:pt x="4902" y="3406216"/>
                  </a:lnTo>
                  <a:lnTo>
                    <a:pt x="0" y="3381375"/>
                  </a:lnTo>
                  <a:lnTo>
                    <a:pt x="546" y="3392627"/>
                  </a:lnTo>
                  <a:lnTo>
                    <a:pt x="13512" y="3435299"/>
                  </a:lnTo>
                  <a:lnTo>
                    <a:pt x="41833" y="3469767"/>
                  </a:lnTo>
                  <a:lnTo>
                    <a:pt x="81178" y="3490772"/>
                  </a:lnTo>
                  <a:lnTo>
                    <a:pt x="114300" y="3495675"/>
                  </a:lnTo>
                  <a:lnTo>
                    <a:pt x="3161461" y="3495675"/>
                  </a:lnTo>
                  <a:lnTo>
                    <a:pt x="3198990" y="3484295"/>
                  </a:lnTo>
                  <a:lnTo>
                    <a:pt x="3209658" y="3475393"/>
                  </a:lnTo>
                  <a:lnTo>
                    <a:pt x="3213684" y="3470960"/>
                  </a:lnTo>
                  <a:lnTo>
                    <a:pt x="3228581" y="3435299"/>
                  </a:lnTo>
                  <a:lnTo>
                    <a:pt x="3228657" y="3434804"/>
                  </a:lnTo>
                  <a:lnTo>
                    <a:pt x="3228937" y="3429000"/>
                  </a:lnTo>
                  <a:lnTo>
                    <a:pt x="3228937" y="66662"/>
                  </a:lnTo>
                  <a:close/>
                </a:path>
              </a:pathLst>
            </a:custGeom>
            <a:solidFill>
              <a:srgbClr val="6D44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96175" y="1885949"/>
              <a:ext cx="114300" cy="3495675"/>
            </a:xfrm>
            <a:custGeom>
              <a:avLst/>
              <a:gdLst/>
              <a:ahLst/>
              <a:cxnLst/>
              <a:rect l="l" t="t" r="r" b="b"/>
              <a:pathLst>
                <a:path w="114300" h="3495675">
                  <a:moveTo>
                    <a:pt x="114300" y="0"/>
                  </a:moveTo>
                  <a:lnTo>
                    <a:pt x="63068" y="0"/>
                  </a:lnTo>
                  <a:lnTo>
                    <a:pt x="58686" y="431"/>
                  </a:lnTo>
                  <a:lnTo>
                    <a:pt x="22910" y="16637"/>
                  </a:lnTo>
                  <a:lnTo>
                    <a:pt x="2159" y="49987"/>
                  </a:lnTo>
                  <a:lnTo>
                    <a:pt x="0" y="63068"/>
                  </a:lnTo>
                  <a:lnTo>
                    <a:pt x="0" y="3428168"/>
                  </a:lnTo>
                  <a:lnTo>
                    <a:pt x="0" y="3432597"/>
                  </a:lnTo>
                  <a:lnTo>
                    <a:pt x="13830" y="3469358"/>
                  </a:lnTo>
                  <a:lnTo>
                    <a:pt x="45770" y="3492233"/>
                  </a:lnTo>
                  <a:lnTo>
                    <a:pt x="63068" y="3495676"/>
                  </a:lnTo>
                  <a:lnTo>
                    <a:pt x="114300" y="3495676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85B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818043" y="2087562"/>
            <a:ext cx="2053589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55" dirty="0">
                <a:solidFill>
                  <a:srgbClr val="DAD8E9"/>
                </a:solidFill>
                <a:latin typeface="Trebuchet MS"/>
                <a:cs typeface="Trebuchet MS"/>
              </a:rPr>
              <a:t>Flexible</a:t>
            </a:r>
            <a:r>
              <a:rPr sz="1650" spc="114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60" dirty="0">
                <a:solidFill>
                  <a:srgbClr val="DAD8E9"/>
                </a:solidFill>
                <a:latin typeface="Trebuchet MS"/>
                <a:cs typeface="Trebuchet MS"/>
              </a:rPr>
              <a:t>Integration</a:t>
            </a:r>
            <a:endParaRPr sz="165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848600" y="2590799"/>
            <a:ext cx="76200" cy="2133600"/>
            <a:chOff x="7848600" y="2590799"/>
            <a:chExt cx="76200" cy="2133600"/>
          </a:xfrm>
        </p:grpSpPr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48600" y="2590799"/>
              <a:ext cx="76200" cy="762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48600" y="3276599"/>
              <a:ext cx="76200" cy="76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48600" y="3962399"/>
              <a:ext cx="76200" cy="762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48600" y="4648199"/>
              <a:ext cx="76200" cy="7620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8126565" y="2407126"/>
            <a:ext cx="1727200" cy="654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Seamless</a:t>
            </a:r>
            <a:r>
              <a:rPr sz="1500" spc="-8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supplier</a:t>
            </a:r>
            <a:r>
              <a:rPr sz="1500" spc="-8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API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connectivity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126565" y="3092926"/>
            <a:ext cx="1746885" cy="654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Multi-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warehouse 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management</a:t>
            </a:r>
            <a:r>
              <a:rPr sz="1500" spc="-8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support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26565" y="3788251"/>
            <a:ext cx="20383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Easy</a:t>
            </a:r>
            <a:r>
              <a:rPr sz="1500" spc="-12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deployment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on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25" dirty="0">
                <a:solidFill>
                  <a:srgbClr val="DAD8E9"/>
                </a:solidFill>
                <a:latin typeface="Tahoma"/>
                <a:cs typeface="Tahoma"/>
              </a:rPr>
              <a:t>AWS, </a:t>
            </a: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Azure,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or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on-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premises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126565" y="4474051"/>
            <a:ext cx="20808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Scalable</a:t>
            </a: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infrastructure</a:t>
            </a:r>
            <a:r>
              <a:rPr sz="1500" spc="-6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for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growth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972300"/>
          </a:xfrm>
          <a:custGeom>
            <a:avLst/>
            <a:gdLst/>
            <a:ahLst/>
            <a:cxnLst/>
            <a:rect l="l" t="t" r="r" b="b"/>
            <a:pathLst>
              <a:path w="11430000" h="6972300">
                <a:moveTo>
                  <a:pt x="11430000" y="0"/>
                </a:moveTo>
                <a:lnTo>
                  <a:pt x="0" y="0"/>
                </a:lnTo>
                <a:lnTo>
                  <a:pt x="0" y="6972300"/>
                </a:lnTo>
                <a:lnTo>
                  <a:pt x="11430000" y="69723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A0C2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4104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62385" y="2911475"/>
            <a:ext cx="8141334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45" dirty="0"/>
              <a:t>The</a:t>
            </a:r>
            <a:r>
              <a:rPr spc="210" dirty="0"/>
              <a:t> </a:t>
            </a:r>
            <a:r>
              <a:rPr spc="60" dirty="0"/>
              <a:t>Future</a:t>
            </a:r>
            <a:r>
              <a:rPr spc="215" dirty="0"/>
              <a:t> </a:t>
            </a:r>
            <a:r>
              <a:rPr spc="110" dirty="0"/>
              <a:t>of</a:t>
            </a:r>
            <a:r>
              <a:rPr spc="210" dirty="0"/>
              <a:t> </a:t>
            </a:r>
            <a:r>
              <a:rPr spc="145" dirty="0"/>
              <a:t>Inventory</a:t>
            </a:r>
            <a:r>
              <a:rPr spc="210" dirty="0"/>
              <a:t> </a:t>
            </a:r>
            <a:r>
              <a:rPr spc="155" dirty="0"/>
              <a:t>i</a:t>
            </a:r>
            <a:r>
              <a:rPr cap="small" spc="155" dirty="0"/>
              <a:t>s</a:t>
            </a:r>
            <a:r>
              <a:rPr spc="210" dirty="0"/>
              <a:t> </a:t>
            </a:r>
            <a:r>
              <a:rPr spc="145" dirty="0"/>
              <a:t>SmartShelfX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6275" y="3771900"/>
            <a:ext cx="10077450" cy="1704975"/>
            <a:chOff x="676275" y="3771900"/>
            <a:chExt cx="10077450" cy="1704975"/>
          </a:xfrm>
        </p:grpSpPr>
        <p:sp>
          <p:nvSpPr>
            <p:cNvPr id="6" name="object 6"/>
            <p:cNvSpPr/>
            <p:nvPr/>
          </p:nvSpPr>
          <p:spPr>
            <a:xfrm>
              <a:off x="681037" y="3776662"/>
              <a:ext cx="10067925" cy="1695450"/>
            </a:xfrm>
            <a:custGeom>
              <a:avLst/>
              <a:gdLst/>
              <a:ahLst/>
              <a:cxnLst/>
              <a:rect l="l" t="t" r="r" b="b"/>
              <a:pathLst>
                <a:path w="10067925" h="1695450">
                  <a:moveTo>
                    <a:pt x="10009301" y="0"/>
                  </a:moveTo>
                  <a:lnTo>
                    <a:pt x="58628" y="0"/>
                  </a:lnTo>
                  <a:lnTo>
                    <a:pt x="54545" y="406"/>
                  </a:lnTo>
                  <a:lnTo>
                    <a:pt x="15463" y="21285"/>
                  </a:lnTo>
                  <a:lnTo>
                    <a:pt x="0" y="58623"/>
                  </a:lnTo>
                  <a:lnTo>
                    <a:pt x="0" y="1632699"/>
                  </a:lnTo>
                  <a:lnTo>
                    <a:pt x="0" y="1636826"/>
                  </a:lnTo>
                  <a:lnTo>
                    <a:pt x="15463" y="1674164"/>
                  </a:lnTo>
                  <a:lnTo>
                    <a:pt x="54545" y="1695043"/>
                  </a:lnTo>
                  <a:lnTo>
                    <a:pt x="58628" y="1695450"/>
                  </a:lnTo>
                  <a:lnTo>
                    <a:pt x="10009301" y="1695450"/>
                  </a:lnTo>
                  <a:lnTo>
                    <a:pt x="10046627" y="1679981"/>
                  </a:lnTo>
                  <a:lnTo>
                    <a:pt x="10067518" y="1640903"/>
                  </a:lnTo>
                  <a:lnTo>
                    <a:pt x="10067925" y="1636826"/>
                  </a:lnTo>
                  <a:lnTo>
                    <a:pt x="10067925" y="58623"/>
                  </a:lnTo>
                  <a:lnTo>
                    <a:pt x="10052456" y="21285"/>
                  </a:lnTo>
                  <a:lnTo>
                    <a:pt x="10013378" y="406"/>
                  </a:lnTo>
                  <a:lnTo>
                    <a:pt x="10009301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1037" y="3776662"/>
              <a:ext cx="10067925" cy="1695450"/>
            </a:xfrm>
            <a:custGeom>
              <a:avLst/>
              <a:gdLst/>
              <a:ahLst/>
              <a:cxnLst/>
              <a:rect l="l" t="t" r="r" b="b"/>
              <a:pathLst>
                <a:path w="10067925" h="1695450">
                  <a:moveTo>
                    <a:pt x="0" y="1632699"/>
                  </a:moveTo>
                  <a:lnTo>
                    <a:pt x="0" y="62750"/>
                  </a:lnTo>
                  <a:lnTo>
                    <a:pt x="0" y="58623"/>
                  </a:lnTo>
                  <a:lnTo>
                    <a:pt x="401" y="54546"/>
                  </a:lnTo>
                  <a:lnTo>
                    <a:pt x="1205" y="50507"/>
                  </a:lnTo>
                  <a:lnTo>
                    <a:pt x="2009" y="46456"/>
                  </a:lnTo>
                  <a:lnTo>
                    <a:pt x="3200" y="42545"/>
                  </a:lnTo>
                  <a:lnTo>
                    <a:pt x="4777" y="38735"/>
                  </a:lnTo>
                  <a:lnTo>
                    <a:pt x="6355" y="34925"/>
                  </a:lnTo>
                  <a:lnTo>
                    <a:pt x="8284" y="31305"/>
                  </a:lnTo>
                  <a:lnTo>
                    <a:pt x="10576" y="27889"/>
                  </a:lnTo>
                  <a:lnTo>
                    <a:pt x="12863" y="24460"/>
                  </a:lnTo>
                  <a:lnTo>
                    <a:pt x="15463" y="21285"/>
                  </a:lnTo>
                  <a:lnTo>
                    <a:pt x="18380" y="18376"/>
                  </a:lnTo>
                  <a:lnTo>
                    <a:pt x="21292" y="15468"/>
                  </a:lnTo>
                  <a:lnTo>
                    <a:pt x="38735" y="4775"/>
                  </a:lnTo>
                  <a:lnTo>
                    <a:pt x="42539" y="3200"/>
                  </a:lnTo>
                  <a:lnTo>
                    <a:pt x="46464" y="2006"/>
                  </a:lnTo>
                  <a:lnTo>
                    <a:pt x="50502" y="1206"/>
                  </a:lnTo>
                  <a:lnTo>
                    <a:pt x="54545" y="406"/>
                  </a:lnTo>
                  <a:lnTo>
                    <a:pt x="58628" y="0"/>
                  </a:lnTo>
                  <a:lnTo>
                    <a:pt x="62745" y="0"/>
                  </a:lnTo>
                  <a:lnTo>
                    <a:pt x="10005174" y="0"/>
                  </a:lnTo>
                  <a:lnTo>
                    <a:pt x="10009301" y="0"/>
                  </a:lnTo>
                  <a:lnTo>
                    <a:pt x="10013378" y="406"/>
                  </a:lnTo>
                  <a:lnTo>
                    <a:pt x="10017417" y="1206"/>
                  </a:lnTo>
                  <a:lnTo>
                    <a:pt x="10021455" y="2006"/>
                  </a:lnTo>
                  <a:lnTo>
                    <a:pt x="10025380" y="3200"/>
                  </a:lnTo>
                  <a:lnTo>
                    <a:pt x="10029190" y="4775"/>
                  </a:lnTo>
                  <a:lnTo>
                    <a:pt x="10033000" y="6350"/>
                  </a:lnTo>
                  <a:lnTo>
                    <a:pt x="10057346" y="27889"/>
                  </a:lnTo>
                  <a:lnTo>
                    <a:pt x="10059644" y="31305"/>
                  </a:lnTo>
                  <a:lnTo>
                    <a:pt x="10066718" y="50507"/>
                  </a:lnTo>
                  <a:lnTo>
                    <a:pt x="10067518" y="54546"/>
                  </a:lnTo>
                  <a:lnTo>
                    <a:pt x="10067925" y="58623"/>
                  </a:lnTo>
                  <a:lnTo>
                    <a:pt x="10067925" y="62750"/>
                  </a:lnTo>
                  <a:lnTo>
                    <a:pt x="10067925" y="1632699"/>
                  </a:lnTo>
                  <a:lnTo>
                    <a:pt x="10067925" y="1636826"/>
                  </a:lnTo>
                  <a:lnTo>
                    <a:pt x="10067518" y="1640903"/>
                  </a:lnTo>
                  <a:lnTo>
                    <a:pt x="10066718" y="1644942"/>
                  </a:lnTo>
                  <a:lnTo>
                    <a:pt x="10065918" y="1648980"/>
                  </a:lnTo>
                  <a:lnTo>
                    <a:pt x="10057346" y="1667560"/>
                  </a:lnTo>
                  <a:lnTo>
                    <a:pt x="10055060" y="1670989"/>
                  </a:lnTo>
                  <a:lnTo>
                    <a:pt x="10029190" y="1690674"/>
                  </a:lnTo>
                  <a:lnTo>
                    <a:pt x="10025380" y="1692249"/>
                  </a:lnTo>
                  <a:lnTo>
                    <a:pt x="10021455" y="1693430"/>
                  </a:lnTo>
                  <a:lnTo>
                    <a:pt x="10017417" y="1694243"/>
                  </a:lnTo>
                  <a:lnTo>
                    <a:pt x="10013378" y="1695043"/>
                  </a:lnTo>
                  <a:lnTo>
                    <a:pt x="10009301" y="1695450"/>
                  </a:lnTo>
                  <a:lnTo>
                    <a:pt x="10005174" y="1695450"/>
                  </a:lnTo>
                  <a:lnTo>
                    <a:pt x="62745" y="1695450"/>
                  </a:lnTo>
                  <a:lnTo>
                    <a:pt x="58628" y="1695450"/>
                  </a:lnTo>
                  <a:lnTo>
                    <a:pt x="54545" y="1695043"/>
                  </a:lnTo>
                  <a:lnTo>
                    <a:pt x="50502" y="1694243"/>
                  </a:lnTo>
                  <a:lnTo>
                    <a:pt x="46464" y="1693430"/>
                  </a:lnTo>
                  <a:lnTo>
                    <a:pt x="42539" y="1692249"/>
                  </a:lnTo>
                  <a:lnTo>
                    <a:pt x="38735" y="1690674"/>
                  </a:lnTo>
                  <a:lnTo>
                    <a:pt x="34930" y="1689100"/>
                  </a:lnTo>
                  <a:lnTo>
                    <a:pt x="18380" y="1677073"/>
                  </a:lnTo>
                  <a:lnTo>
                    <a:pt x="15463" y="1674164"/>
                  </a:lnTo>
                  <a:lnTo>
                    <a:pt x="12863" y="1670989"/>
                  </a:lnTo>
                  <a:lnTo>
                    <a:pt x="10576" y="1667560"/>
                  </a:lnTo>
                  <a:lnTo>
                    <a:pt x="8284" y="1664131"/>
                  </a:lnTo>
                  <a:lnTo>
                    <a:pt x="0" y="1636826"/>
                  </a:lnTo>
                  <a:lnTo>
                    <a:pt x="0" y="1632699"/>
                  </a:lnTo>
                  <a:close/>
                </a:path>
              </a:pathLst>
            </a:custGeom>
            <a:ln w="952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800" y="3781425"/>
              <a:ext cx="3352800" cy="1685925"/>
            </a:xfrm>
            <a:custGeom>
              <a:avLst/>
              <a:gdLst/>
              <a:ahLst/>
              <a:cxnLst/>
              <a:rect l="l" t="t" r="r" b="b"/>
              <a:pathLst>
                <a:path w="3352800" h="1685925">
                  <a:moveTo>
                    <a:pt x="3352800" y="0"/>
                  </a:moveTo>
                  <a:lnTo>
                    <a:pt x="63073" y="0"/>
                  </a:lnTo>
                  <a:lnTo>
                    <a:pt x="58687" y="431"/>
                  </a:lnTo>
                  <a:lnTo>
                    <a:pt x="22904" y="16637"/>
                  </a:lnTo>
                  <a:lnTo>
                    <a:pt x="2162" y="49987"/>
                  </a:lnTo>
                  <a:lnTo>
                    <a:pt x="0" y="63068"/>
                  </a:lnTo>
                  <a:lnTo>
                    <a:pt x="0" y="1618411"/>
                  </a:lnTo>
                  <a:lnTo>
                    <a:pt x="0" y="1622844"/>
                  </a:lnTo>
                  <a:lnTo>
                    <a:pt x="13840" y="1659610"/>
                  </a:lnTo>
                  <a:lnTo>
                    <a:pt x="45769" y="1682483"/>
                  </a:lnTo>
                  <a:lnTo>
                    <a:pt x="63073" y="1685925"/>
                  </a:lnTo>
                  <a:lnTo>
                    <a:pt x="3352800" y="1685925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64791" y="3954462"/>
            <a:ext cx="250888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70" dirty="0">
                <a:solidFill>
                  <a:srgbClr val="DAD8E9"/>
                </a:solidFill>
                <a:latin typeface="Trebuchet MS"/>
                <a:cs typeface="Trebuchet MS"/>
              </a:rPr>
              <a:t>Predictive</a:t>
            </a:r>
            <a:r>
              <a:rPr sz="1650" spc="120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114" dirty="0">
                <a:solidFill>
                  <a:srgbClr val="DAD8E9"/>
                </a:solidFill>
                <a:latin typeface="Trebuchet MS"/>
                <a:cs typeface="Trebuchet MS"/>
              </a:rPr>
              <a:t>Management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4791" y="4283551"/>
            <a:ext cx="2693670" cy="9493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60"/>
              </a:spcBef>
            </a:pP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Move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from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reactive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firefighting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to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proactive,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predictive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inventory strategies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38600" y="3781425"/>
            <a:ext cx="3352800" cy="1685925"/>
            <a:chOff x="4038600" y="3781425"/>
            <a:chExt cx="3352800" cy="1685925"/>
          </a:xfrm>
        </p:grpSpPr>
        <p:sp>
          <p:nvSpPr>
            <p:cNvPr id="12" name="object 12"/>
            <p:cNvSpPr/>
            <p:nvPr/>
          </p:nvSpPr>
          <p:spPr>
            <a:xfrm>
              <a:off x="4038600" y="3781425"/>
              <a:ext cx="3352800" cy="1685925"/>
            </a:xfrm>
            <a:custGeom>
              <a:avLst/>
              <a:gdLst/>
              <a:ahLst/>
              <a:cxnLst/>
              <a:rect l="l" t="t" r="r" b="b"/>
              <a:pathLst>
                <a:path w="3352800" h="1685925">
                  <a:moveTo>
                    <a:pt x="3352800" y="0"/>
                  </a:moveTo>
                  <a:lnTo>
                    <a:pt x="0" y="0"/>
                  </a:lnTo>
                  <a:lnTo>
                    <a:pt x="0" y="1685925"/>
                  </a:lnTo>
                  <a:lnTo>
                    <a:pt x="3352800" y="1685925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38600" y="3781425"/>
              <a:ext cx="28575" cy="1685925"/>
            </a:xfrm>
            <a:custGeom>
              <a:avLst/>
              <a:gdLst/>
              <a:ahLst/>
              <a:cxnLst/>
              <a:rect l="l" t="t" r="r" b="b"/>
              <a:pathLst>
                <a:path w="28575" h="1685925">
                  <a:moveTo>
                    <a:pt x="16179" y="0"/>
                  </a:moveTo>
                  <a:lnTo>
                    <a:pt x="12395" y="0"/>
                  </a:lnTo>
                  <a:lnTo>
                    <a:pt x="10566" y="368"/>
                  </a:lnTo>
                  <a:lnTo>
                    <a:pt x="0" y="12395"/>
                  </a:lnTo>
                  <a:lnTo>
                    <a:pt x="0" y="1671637"/>
                  </a:lnTo>
                  <a:lnTo>
                    <a:pt x="0" y="1673529"/>
                  </a:lnTo>
                  <a:lnTo>
                    <a:pt x="12395" y="1685925"/>
                  </a:lnTo>
                  <a:lnTo>
                    <a:pt x="16179" y="1685925"/>
                  </a:lnTo>
                  <a:lnTo>
                    <a:pt x="28575" y="1673529"/>
                  </a:lnTo>
                  <a:lnTo>
                    <a:pt x="28575" y="12395"/>
                  </a:lnTo>
                  <a:lnTo>
                    <a:pt x="18008" y="368"/>
                  </a:lnTo>
                  <a:lnTo>
                    <a:pt x="16179" y="0"/>
                  </a:lnTo>
                  <a:close/>
                </a:path>
              </a:pathLst>
            </a:custGeom>
            <a:solidFill>
              <a:srgbClr val="6D44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18330" y="3954462"/>
            <a:ext cx="1888489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00" dirty="0">
                <a:solidFill>
                  <a:srgbClr val="DAD8E9"/>
                </a:solidFill>
                <a:latin typeface="Trebuchet MS"/>
                <a:cs typeface="Trebuchet MS"/>
              </a:rPr>
              <a:t>AI-Driven</a:t>
            </a:r>
            <a:r>
              <a:rPr sz="1650" spc="135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55" dirty="0">
                <a:solidFill>
                  <a:srgbClr val="DAD8E9"/>
                </a:solidFill>
                <a:latin typeface="Trebuchet MS"/>
                <a:cs typeface="Trebuchet MS"/>
              </a:rPr>
              <a:t>In</a:t>
            </a:r>
            <a:r>
              <a:rPr sz="1650" cap="small" spc="55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55" dirty="0">
                <a:solidFill>
                  <a:srgbClr val="DAD8E9"/>
                </a:solidFill>
                <a:latin typeface="Trebuchet MS"/>
                <a:cs typeface="Trebuchet MS"/>
              </a:rPr>
              <a:t>ight</a:t>
            </a:r>
            <a:r>
              <a:rPr sz="1650" cap="small" spc="55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8330" y="4283551"/>
            <a:ext cx="28848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Empower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your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team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with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intelligent </a:t>
            </a:r>
            <a:r>
              <a:rPr sz="1500" spc="-30" dirty="0">
                <a:solidFill>
                  <a:srgbClr val="DAD8E9"/>
                </a:solidFill>
                <a:latin typeface="Tahoma"/>
                <a:cs typeface="Tahoma"/>
              </a:rPr>
              <a:t>automation</a:t>
            </a: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actionable</a:t>
            </a: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analytics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91400" y="3781425"/>
            <a:ext cx="3352800" cy="1685925"/>
            <a:chOff x="7391400" y="3781425"/>
            <a:chExt cx="3352800" cy="1685925"/>
          </a:xfrm>
        </p:grpSpPr>
        <p:sp>
          <p:nvSpPr>
            <p:cNvPr id="17" name="object 17"/>
            <p:cNvSpPr/>
            <p:nvPr/>
          </p:nvSpPr>
          <p:spPr>
            <a:xfrm>
              <a:off x="7391400" y="3781425"/>
              <a:ext cx="3352800" cy="1685925"/>
            </a:xfrm>
            <a:custGeom>
              <a:avLst/>
              <a:gdLst/>
              <a:ahLst/>
              <a:cxnLst/>
              <a:rect l="l" t="t" r="r" b="b"/>
              <a:pathLst>
                <a:path w="3352800" h="1685925">
                  <a:moveTo>
                    <a:pt x="3289719" y="0"/>
                  </a:moveTo>
                  <a:lnTo>
                    <a:pt x="0" y="0"/>
                  </a:lnTo>
                  <a:lnTo>
                    <a:pt x="0" y="1685925"/>
                  </a:lnTo>
                  <a:lnTo>
                    <a:pt x="3289719" y="1685925"/>
                  </a:lnTo>
                  <a:lnTo>
                    <a:pt x="3294113" y="1685493"/>
                  </a:lnTo>
                  <a:lnTo>
                    <a:pt x="3329889" y="1669288"/>
                  </a:lnTo>
                  <a:lnTo>
                    <a:pt x="3350641" y="1635937"/>
                  </a:lnTo>
                  <a:lnTo>
                    <a:pt x="3352800" y="1622844"/>
                  </a:lnTo>
                  <a:lnTo>
                    <a:pt x="3352800" y="63068"/>
                  </a:lnTo>
                  <a:lnTo>
                    <a:pt x="3338957" y="26314"/>
                  </a:lnTo>
                  <a:lnTo>
                    <a:pt x="3307029" y="3441"/>
                  </a:lnTo>
                  <a:lnTo>
                    <a:pt x="3289719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91400" y="3781425"/>
              <a:ext cx="28575" cy="1685925"/>
            </a:xfrm>
            <a:custGeom>
              <a:avLst/>
              <a:gdLst/>
              <a:ahLst/>
              <a:cxnLst/>
              <a:rect l="l" t="t" r="r" b="b"/>
              <a:pathLst>
                <a:path w="28575" h="1685925">
                  <a:moveTo>
                    <a:pt x="16179" y="0"/>
                  </a:moveTo>
                  <a:lnTo>
                    <a:pt x="12395" y="0"/>
                  </a:lnTo>
                  <a:lnTo>
                    <a:pt x="10566" y="368"/>
                  </a:lnTo>
                  <a:lnTo>
                    <a:pt x="0" y="12395"/>
                  </a:lnTo>
                  <a:lnTo>
                    <a:pt x="0" y="1671637"/>
                  </a:lnTo>
                  <a:lnTo>
                    <a:pt x="0" y="1673529"/>
                  </a:lnTo>
                  <a:lnTo>
                    <a:pt x="12395" y="1685925"/>
                  </a:lnTo>
                  <a:lnTo>
                    <a:pt x="16179" y="1685925"/>
                  </a:lnTo>
                  <a:lnTo>
                    <a:pt x="28575" y="1673529"/>
                  </a:lnTo>
                  <a:lnTo>
                    <a:pt x="28575" y="12395"/>
                  </a:lnTo>
                  <a:lnTo>
                    <a:pt x="18008" y="368"/>
                  </a:lnTo>
                  <a:lnTo>
                    <a:pt x="16179" y="0"/>
                  </a:lnTo>
                  <a:close/>
                </a:path>
              </a:pathLst>
            </a:custGeom>
            <a:solidFill>
              <a:srgbClr val="6D44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571879" y="3954462"/>
            <a:ext cx="204152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85" dirty="0">
                <a:solidFill>
                  <a:srgbClr val="DAD8E9"/>
                </a:solidFill>
                <a:latin typeface="Trebuchet MS"/>
                <a:cs typeface="Trebuchet MS"/>
              </a:rPr>
              <a:t>Su</a:t>
            </a:r>
            <a:r>
              <a:rPr sz="1650" cap="small" spc="85" dirty="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sz="1650" spc="85" dirty="0">
                <a:solidFill>
                  <a:srgbClr val="DAD8E9"/>
                </a:solidFill>
                <a:latin typeface="Trebuchet MS"/>
                <a:cs typeface="Trebuchet MS"/>
              </a:rPr>
              <a:t>tainable</a:t>
            </a:r>
            <a:r>
              <a:rPr sz="1650" spc="114" dirty="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sz="1650" spc="10" dirty="0">
                <a:solidFill>
                  <a:srgbClr val="DAD8E9"/>
                </a:solidFill>
                <a:latin typeface="Trebuchet MS"/>
                <a:cs typeface="Trebuchet MS"/>
              </a:rPr>
              <a:t>Growth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71879" y="4283551"/>
            <a:ext cx="2802255" cy="9493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60"/>
              </a:spcBef>
            </a:pPr>
            <a:r>
              <a:rPr sz="1500" spc="-45" dirty="0">
                <a:solidFill>
                  <a:srgbClr val="DAD8E9"/>
                </a:solidFill>
                <a:latin typeface="Tahoma"/>
                <a:cs typeface="Tahoma"/>
              </a:rPr>
              <a:t>Unlock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65" dirty="0">
                <a:solidFill>
                  <a:srgbClr val="DAD8E9"/>
                </a:solidFill>
                <a:latin typeface="Tahoma"/>
                <a:cs typeface="Tahoma"/>
              </a:rPr>
              <a:t>revenue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growth,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reduce </a:t>
            </a:r>
            <a:r>
              <a:rPr sz="1500" spc="-70" dirty="0">
                <a:solidFill>
                  <a:srgbClr val="DAD8E9"/>
                </a:solidFill>
                <a:latin typeface="Tahoma"/>
                <a:cs typeface="Tahoma"/>
              </a:rPr>
              <a:t>waste,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delight</a:t>
            </a:r>
            <a:r>
              <a:rPr sz="1500" spc="-9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customers</a:t>
            </a:r>
            <a:r>
              <a:rPr sz="1500" spc="-9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DAD8E9"/>
                </a:solidFill>
                <a:latin typeface="Tahoma"/>
                <a:cs typeface="Tahoma"/>
              </a:rPr>
              <a:t>every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single</a:t>
            </a:r>
            <a:r>
              <a:rPr sz="1500" spc="-10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day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1712" y="5918993"/>
            <a:ext cx="6703059" cy="257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Let's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DAD8E9"/>
                </a:solidFill>
                <a:latin typeface="Tahoma"/>
                <a:cs typeface="Tahoma"/>
              </a:rPr>
              <a:t>build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the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future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of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DAD8E9"/>
                </a:solidFill>
                <a:latin typeface="Tahoma"/>
                <a:cs typeface="Tahoma"/>
              </a:rPr>
              <a:t>inventory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DAD8E9"/>
                </a:solidFill>
                <a:latin typeface="Tahoma"/>
                <a:cs typeface="Tahoma"/>
              </a:rPr>
              <a:t>together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585" dirty="0">
                <a:solidFill>
                  <a:srgbClr val="DAD8E9"/>
                </a:solidFill>
                <a:latin typeface="Tahoma"/>
                <a:cs typeface="Tahoma"/>
              </a:rPr>
              <a:t>4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powered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75" dirty="0">
                <a:solidFill>
                  <a:srgbClr val="DAD8E9"/>
                </a:solidFill>
                <a:latin typeface="Tahoma"/>
                <a:cs typeface="Tahoma"/>
              </a:rPr>
              <a:t>by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25" dirty="0">
                <a:solidFill>
                  <a:srgbClr val="DAD8E9"/>
                </a:solidFill>
                <a:latin typeface="Tahoma"/>
                <a:cs typeface="Tahoma"/>
              </a:rPr>
              <a:t>AI</a:t>
            </a:r>
            <a:r>
              <a:rPr sz="1500" spc="-105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DAD8E9"/>
                </a:solidFill>
                <a:latin typeface="Tahoma"/>
                <a:cs typeface="Tahoma"/>
              </a:rPr>
              <a:t>and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DAD8E9"/>
                </a:solidFill>
                <a:latin typeface="Tahoma"/>
                <a:cs typeface="Tahoma"/>
              </a:rPr>
              <a:t>modern</a:t>
            </a:r>
            <a:r>
              <a:rPr sz="1500" spc="-110" dirty="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DAD8E9"/>
                </a:solidFill>
                <a:latin typeface="Tahoma"/>
                <a:cs typeface="Tahoma"/>
              </a:rPr>
              <a:t>technology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76275" y="5695951"/>
            <a:ext cx="28575" cy="742950"/>
          </a:xfrm>
          <a:custGeom>
            <a:avLst/>
            <a:gdLst/>
            <a:ahLst/>
            <a:cxnLst/>
            <a:rect l="l" t="t" r="r" b="b"/>
            <a:pathLst>
              <a:path w="28575" h="742950">
                <a:moveTo>
                  <a:pt x="28575" y="0"/>
                </a:moveTo>
                <a:lnTo>
                  <a:pt x="0" y="0"/>
                </a:lnTo>
                <a:lnTo>
                  <a:pt x="0" y="742950"/>
                </a:lnTo>
                <a:lnTo>
                  <a:pt x="28575" y="742950"/>
                </a:lnTo>
                <a:lnTo>
                  <a:pt x="28575" y="0"/>
                </a:lnTo>
                <a:close/>
              </a:path>
            </a:pathLst>
          </a:custGeom>
          <a:solidFill>
            <a:srgbClr val="A85B9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617</Words>
  <Application>Microsoft Office PowerPoint</Application>
  <PresentationFormat>Custom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Tahoma</vt:lpstr>
      <vt:lpstr>Trebuchet MS</vt:lpstr>
      <vt:lpstr>Office Theme</vt:lpstr>
      <vt:lpstr>SmartShelfX: AI-Based Inventory Forecast &amp; Auto Restock</vt:lpstr>
      <vt:lpstr>PowerPoint Presentation</vt:lpstr>
      <vt:lpstr>Why AI is the Game-Changer</vt:lpstr>
      <vt:lpstr>PowerPoint Presentation</vt:lpstr>
      <vt:lpstr>Tech Stack: Modern &amp; Scalable</vt:lpstr>
      <vt:lpstr>How It Works: From Data to Decision</vt:lpstr>
      <vt:lpstr>Real-World Impact &amp; Benefits</vt:lpstr>
      <vt:lpstr>Competitive Edge &amp; Market Opportunity</vt:lpstr>
      <vt:lpstr>Demo &amp; Deployment Highlights</vt:lpstr>
      <vt:lpstr>The Future of Inventory is SmartShelfX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LightPDF - Edit, Convert PDF Files Online for Free</dc:subject>
  <dc:creator>lightpdf.com</dc:creator>
  <cp:lastModifiedBy>ghanaswamy5@outlook.com</cp:lastModifiedBy>
  <cp:revision>4</cp:revision>
  <dcterms:created xsi:type="dcterms:W3CDTF">2025-12-09T13:26:12Z</dcterms:created>
  <dcterms:modified xsi:type="dcterms:W3CDTF">2025-12-16T16:35:41Z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lightpdf.com</vt:lpwstr>
  </property>
  <property fmtid="{D5CDD505-2E9C-101B-9397-08002B2CF9AE}" pid="4" name="LastSaved">
    <vt:filetime>2025-12-09T00:00:00Z</vt:filetime>
  </property>
</Properties>
</file>